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15" d="100"/>
          <a:sy n="115" d="100"/>
        </p:scale>
        <p:origin x="824" y="656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en-US"/>
  <c:roundedCorners val="1"/>
  <mc:AlternateContent>
    <mc:Choice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5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B5C"/>
                </a:solidFill>
                <a:latin typeface="Arial"/>
              </a:rPr>
              <a:t>Top 12 features (RandomForest)</a:t>
            </a:r>
            <a:endParaRPr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 bwMode="auto">
            <a:prstGeom prst="rect">
              <a:avLst/>
            </a:prstGeom>
            <a:solidFill>
              <a:srgbClr val="1A2B5C"/>
            </a:solidFill>
            <a:effectLst/>
          </c:spPr>
          <c:invertIfNegative val="0"/>
          <c:dLbls>
            <c:numFmt formatCode="0.00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spPr bwMode="auto">
              <a:prstGeom prst="rect">
                <a:avLst/>
              </a:prstGeom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B5C"/>
                    </a:solidFill>
                    <a:latin typeface="Arial"/>
                  </a:defRPr>
                </a:pPr>
                <a:endParaRPr/>
              </a:p>
            </c:txPr>
          </c:dLbls>
          <c:cat>
            <c:strRef>
              <c:f>Sheet1!$A$2:$A$13</c:f>
              <c:strCache>
                <c:ptCount val="12"/>
                <c:pt idx="0">
                  <c:v>lines_of_code</c:v>
                </c:pt>
                <c:pt idx="1">
                  <c:v>halstead_intelligence</c:v>
                </c:pt>
                <c:pt idx="2">
                  <c:v>halstead_volume</c:v>
                </c:pt>
                <c:pt idx="3">
                  <c:v>halstead_time</c:v>
                </c:pt>
                <c:pt idx="4">
                  <c:v>halstead_effort</c:v>
                </c:pt>
                <c:pt idx="5">
                  <c:v>halstead_difficulty</c:v>
                </c:pt>
                <c:pt idx="6">
                  <c:v>code_lines</c:v>
                </c:pt>
                <c:pt idx="7">
                  <c:v>design_complexity</c:v>
                </c:pt>
                <c:pt idx="8">
                  <c:v>branch_count</c:v>
                </c:pt>
                <c:pt idx="9">
                  <c:v>total_operators</c:v>
                </c:pt>
                <c:pt idx="10">
                  <c:v>cyclomatic_complexity</c:v>
                </c:pt>
                <c:pt idx="11">
                  <c:v>blank_lines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0.1265</c:v>
                </c:pt>
                <c:pt idx="1">
                  <c:v>0.0565</c:v>
                </c:pt>
                <c:pt idx="2">
                  <c:v>0.0553</c:v>
                </c:pt>
                <c:pt idx="3">
                  <c:v>0.0548</c:v>
                </c:pt>
                <c:pt idx="4">
                  <c:v>0.0523</c:v>
                </c:pt>
                <c:pt idx="5">
                  <c:v>0.0514</c:v>
                </c:pt>
                <c:pt idx="6">
                  <c:v>0.0511</c:v>
                </c:pt>
                <c:pt idx="7">
                  <c:v>0.0509</c:v>
                </c:pt>
                <c:pt idx="8">
                  <c:v>0.0499</c:v>
                </c:pt>
                <c:pt idx="9">
                  <c:v>0.0491</c:v>
                </c:pt>
                <c:pt idx="10">
                  <c:v>0.0479</c:v>
                </c:pt>
                <c:pt idx="11">
                  <c:v>0.0467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1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 bwMode="auto">
            <a:prstGeom prst="rect">
              <a:avLst/>
            </a:prstGeom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1"/>
  </c:chart>
  <c:spPr bwMode="auto">
    <a:xfrm rot="0">
      <a:off x="502920" y="1234440"/>
      <a:ext cx="5120640" cy="347472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453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844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8693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20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8228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0994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85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127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3957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181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970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934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775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46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4968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827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50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5100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222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79921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3427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8258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158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1383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749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4700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3312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644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0102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8773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72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1609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4849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723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150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372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514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012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3703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2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925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9571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416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99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2563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766E7-EC24-DF5B-D3BF-B1011540D4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1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31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42828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03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172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0590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422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3481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8490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9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0496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785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548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568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4256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64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8609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5715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31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440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5805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57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215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721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949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7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5357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386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7950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1780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015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4699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3958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BF7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834310" name="Shape 0"/>
          <p:cNvSpPr/>
          <p:nvPr/>
        </p:nvSpPr>
        <p:spPr bwMode="auto">
          <a:xfrm>
            <a:off x="6583680" y="-2194560"/>
            <a:ext cx="5120640" cy="5120640"/>
          </a:xfrm>
          <a:prstGeom prst="ellipse">
            <a:avLst/>
          </a:prstGeom>
          <a:solidFill>
            <a:srgbClr val="F4D7D2"/>
          </a:solidFill>
          <a:ln w="12700">
            <a:solidFill>
              <a:srgbClr val="F4D7D2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776838" name="Shape 1"/>
          <p:cNvSpPr/>
          <p:nvPr/>
        </p:nvSpPr>
        <p:spPr bwMode="auto">
          <a:xfrm>
            <a:off x="7680960" y="2560320"/>
            <a:ext cx="3108960" cy="310896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464808" name="Shape 2"/>
          <p:cNvSpPr/>
          <p:nvPr/>
        </p:nvSpPr>
        <p:spPr bwMode="auto">
          <a:xfrm>
            <a:off x="-1463040" y="4572000"/>
            <a:ext cx="1097280" cy="10972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297060" name="Text 3"/>
          <p:cNvSpPr/>
          <p:nvPr/>
        </p:nvSpPr>
        <p:spPr bwMode="auto">
          <a:xfrm>
            <a:off x="457200" y="11887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 spc="200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SOFTWARE DEFECT</a:t>
            </a:r>
            <a:endParaRPr lang="en-US" sz="4800"/>
          </a:p>
        </p:txBody>
      </p:sp>
      <p:sp>
        <p:nvSpPr>
          <p:cNvPr id="1417712539" name="Text 4"/>
          <p:cNvSpPr/>
          <p:nvPr/>
        </p:nvSpPr>
        <p:spPr bwMode="auto">
          <a:xfrm>
            <a:off x="457200" y="1965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4800" b="1" spc="200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PREDICTION</a:t>
            </a:r>
            <a:endParaRPr lang="en-US" sz="4800"/>
          </a:p>
        </p:txBody>
      </p:sp>
      <p:sp>
        <p:nvSpPr>
          <p:cNvPr id="567833597" name="Shape 5"/>
          <p:cNvSpPr/>
          <p:nvPr/>
        </p:nvSpPr>
        <p:spPr bwMode="auto">
          <a:xfrm>
            <a:off x="502920" y="2880360"/>
            <a:ext cx="731520" cy="54864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7633103" name="Text 6"/>
          <p:cNvSpPr/>
          <p:nvPr/>
        </p:nvSpPr>
        <p:spPr bwMode="auto">
          <a:xfrm>
            <a:off x="457200" y="3017519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A machine-learning study on the NASA JM1 dataset</a:t>
            </a:r>
            <a:endParaRPr lang="en-US" sz="1400"/>
          </a:p>
        </p:txBody>
      </p:sp>
      <p:sp>
        <p:nvSpPr>
          <p:cNvPr id="427634457" name="Text 7"/>
          <p:cNvSpPr/>
          <p:nvPr/>
        </p:nvSpPr>
        <p:spPr bwMode="auto">
          <a:xfrm>
            <a:off x="502920" y="3657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Presented by:</a:t>
            </a:r>
            <a:endParaRPr lang="en-US" sz="1200"/>
          </a:p>
        </p:txBody>
      </p:sp>
      <p:sp>
        <p:nvSpPr>
          <p:cNvPr id="1023320040" name="Text 8"/>
          <p:cNvSpPr/>
          <p:nvPr/>
        </p:nvSpPr>
        <p:spPr bwMode="auto">
          <a:xfrm>
            <a:off x="502920" y="42062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Yasseen Mohamed</a:t>
            </a:r>
            <a:endParaRPr/>
          </a:p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cs typeface="Calibri"/>
              </a:rPr>
              <a:t>Hazem Hisham</a:t>
            </a:r>
            <a:endParaRPr/>
          </a:p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cs typeface="Calibri"/>
              </a:rPr>
              <a:t>Yousef Khaled</a:t>
            </a:r>
            <a:endParaRPr/>
          </a:p>
          <a:p>
            <a:pPr marL="0" indent="0">
              <a:buNone/>
              <a:defRPr/>
            </a:pPr>
            <a:endParaRPr/>
          </a:p>
          <a:p>
            <a:pPr marL="0" indent="0">
              <a:buNone/>
              <a:defRPr/>
            </a:pPr>
            <a:endParaRPr lang="en-US" sz="1100">
              <a:solidFill>
                <a:srgbClr val="4A4A4A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endParaRPr lang="en-US" sz="1100">
              <a:solidFill>
                <a:srgbClr val="4A4A4A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001327512" name="Text 9"/>
          <p:cNvSpPr/>
          <p:nvPr/>
        </p:nvSpPr>
        <p:spPr bwMode="auto">
          <a:xfrm>
            <a:off x="35661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Instructor:</a:t>
            </a:r>
            <a:endParaRPr lang="en-US" sz="1200"/>
          </a:p>
        </p:txBody>
      </p:sp>
      <p:sp>
        <p:nvSpPr>
          <p:cNvPr id="1313384531" name="Text 10"/>
          <p:cNvSpPr/>
          <p:nvPr/>
        </p:nvSpPr>
        <p:spPr bwMode="auto">
          <a:xfrm>
            <a:off x="356616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Dr. Wael Karam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26689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1942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910848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AGENDA</a:t>
            </a:r>
            <a:endParaRPr lang="en-US" sz="2800"/>
          </a:p>
        </p:txBody>
      </p:sp>
      <p:sp>
        <p:nvSpPr>
          <p:cNvPr id="1848011123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983654604" name="Shape 4"/>
          <p:cNvSpPr/>
          <p:nvPr/>
        </p:nvSpPr>
        <p:spPr bwMode="auto">
          <a:xfrm>
            <a:off x="411480" y="841248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687817" name="Text 5"/>
          <p:cNvSpPr/>
          <p:nvPr/>
        </p:nvSpPr>
        <p:spPr bwMode="auto">
          <a:xfrm>
            <a:off x="411480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100"/>
          </a:p>
        </p:txBody>
      </p:sp>
      <p:sp>
        <p:nvSpPr>
          <p:cNvPr id="389327923" name="Text 6"/>
          <p:cNvSpPr/>
          <p:nvPr/>
        </p:nvSpPr>
        <p:spPr bwMode="auto">
          <a:xfrm>
            <a:off x="960120" y="822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Introduction — what is software defect prediction?</a:t>
            </a:r>
            <a:endParaRPr lang="en-US" sz="1400"/>
          </a:p>
        </p:txBody>
      </p:sp>
      <p:sp>
        <p:nvSpPr>
          <p:cNvPr id="1588237270" name="Shape 7"/>
          <p:cNvSpPr/>
          <p:nvPr/>
        </p:nvSpPr>
        <p:spPr bwMode="auto">
          <a:xfrm>
            <a:off x="411480" y="1261872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819512" name="Text 8"/>
          <p:cNvSpPr/>
          <p:nvPr/>
        </p:nvSpPr>
        <p:spPr bwMode="auto">
          <a:xfrm>
            <a:off x="41148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100"/>
          </a:p>
        </p:txBody>
      </p:sp>
      <p:sp>
        <p:nvSpPr>
          <p:cNvPr id="1561256066" name="Text 9"/>
          <p:cNvSpPr/>
          <p:nvPr/>
        </p:nvSpPr>
        <p:spPr bwMode="auto">
          <a:xfrm>
            <a:off x="960120" y="124358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Dataset overview — first look at the raw data</a:t>
            </a:r>
            <a:endParaRPr lang="en-US" sz="1400"/>
          </a:p>
        </p:txBody>
      </p:sp>
      <p:sp>
        <p:nvSpPr>
          <p:cNvPr id="457833600" name="Shape 10"/>
          <p:cNvSpPr/>
          <p:nvPr/>
        </p:nvSpPr>
        <p:spPr bwMode="auto">
          <a:xfrm>
            <a:off x="411480" y="1682496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730825" name="Text 11"/>
          <p:cNvSpPr/>
          <p:nvPr/>
        </p:nvSpPr>
        <p:spPr bwMode="auto">
          <a:xfrm>
            <a:off x="41148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100"/>
          </a:p>
        </p:txBody>
      </p:sp>
      <p:sp>
        <p:nvSpPr>
          <p:cNvPr id="71969204" name="Text 12"/>
          <p:cNvSpPr/>
          <p:nvPr/>
        </p:nvSpPr>
        <p:spPr bwMode="auto">
          <a:xfrm>
            <a:off x="960120" y="16642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What do the columns mean? — all 22 features explained</a:t>
            </a:r>
            <a:endParaRPr lang="en-US" sz="1400"/>
          </a:p>
        </p:txBody>
      </p:sp>
      <p:sp>
        <p:nvSpPr>
          <p:cNvPr id="1274690627" name="Shape 13"/>
          <p:cNvSpPr/>
          <p:nvPr/>
        </p:nvSpPr>
        <p:spPr bwMode="auto">
          <a:xfrm>
            <a:off x="411480" y="2103120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145887" name="Text 14"/>
          <p:cNvSpPr/>
          <p:nvPr/>
        </p:nvSpPr>
        <p:spPr bwMode="auto">
          <a:xfrm>
            <a:off x="4114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100"/>
          </a:p>
        </p:txBody>
      </p:sp>
      <p:sp>
        <p:nvSpPr>
          <p:cNvPr id="119912170" name="Text 15"/>
          <p:cNvSpPr/>
          <p:nvPr/>
        </p:nvSpPr>
        <p:spPr bwMode="auto">
          <a:xfrm>
            <a:off x="960120" y="20848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Data preprocessing — duplicates, missing values, outliers</a:t>
            </a:r>
            <a:endParaRPr lang="en-US" sz="1400"/>
          </a:p>
        </p:txBody>
      </p:sp>
      <p:sp>
        <p:nvSpPr>
          <p:cNvPr id="741033873" name="Shape 16"/>
          <p:cNvSpPr/>
          <p:nvPr/>
        </p:nvSpPr>
        <p:spPr bwMode="auto">
          <a:xfrm>
            <a:off x="411480" y="2523744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304867" name="Text 17"/>
          <p:cNvSpPr/>
          <p:nvPr/>
        </p:nvSpPr>
        <p:spPr bwMode="auto">
          <a:xfrm>
            <a:off x="41148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100"/>
          </a:p>
        </p:txBody>
      </p:sp>
      <p:sp>
        <p:nvSpPr>
          <p:cNvPr id="372563978" name="Text 18"/>
          <p:cNvSpPr/>
          <p:nvPr/>
        </p:nvSpPr>
        <p:spPr bwMode="auto">
          <a:xfrm>
            <a:off x="960120" y="250545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Correlation analysis</a:t>
            </a:r>
            <a:endParaRPr lang="en-US" sz="1400"/>
          </a:p>
        </p:txBody>
      </p:sp>
      <p:sp>
        <p:nvSpPr>
          <p:cNvPr id="1610775679" name="Shape 19"/>
          <p:cNvSpPr/>
          <p:nvPr/>
        </p:nvSpPr>
        <p:spPr bwMode="auto">
          <a:xfrm>
            <a:off x="411480" y="2944368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3701088" name="Text 20"/>
          <p:cNvSpPr/>
          <p:nvPr/>
        </p:nvSpPr>
        <p:spPr bwMode="auto">
          <a:xfrm>
            <a:off x="4114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100"/>
          </a:p>
        </p:txBody>
      </p:sp>
      <p:sp>
        <p:nvSpPr>
          <p:cNvPr id="385481864" name="Text 21"/>
          <p:cNvSpPr/>
          <p:nvPr/>
        </p:nvSpPr>
        <p:spPr bwMode="auto">
          <a:xfrm>
            <a:off x="96012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Feature selection</a:t>
            </a:r>
            <a:endParaRPr lang="en-US" sz="1400"/>
          </a:p>
        </p:txBody>
      </p:sp>
      <p:sp>
        <p:nvSpPr>
          <p:cNvPr id="1467389326" name="Shape 22"/>
          <p:cNvSpPr/>
          <p:nvPr/>
        </p:nvSpPr>
        <p:spPr bwMode="auto">
          <a:xfrm>
            <a:off x="411480" y="3364992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421448" name="Text 23"/>
          <p:cNvSpPr/>
          <p:nvPr/>
        </p:nvSpPr>
        <p:spPr bwMode="auto">
          <a:xfrm>
            <a:off x="4114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100"/>
          </a:p>
        </p:txBody>
      </p:sp>
      <p:sp>
        <p:nvSpPr>
          <p:cNvPr id="691996785" name="Text 24"/>
          <p:cNvSpPr/>
          <p:nvPr/>
        </p:nvSpPr>
        <p:spPr bwMode="auto">
          <a:xfrm>
            <a:off x="960120" y="334670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Handling class imbalance (SMOTE)</a:t>
            </a:r>
            <a:endParaRPr lang="en-US" sz="1400"/>
          </a:p>
        </p:txBody>
      </p:sp>
      <p:sp>
        <p:nvSpPr>
          <p:cNvPr id="689871688" name="Shape 25"/>
          <p:cNvSpPr/>
          <p:nvPr/>
        </p:nvSpPr>
        <p:spPr bwMode="auto">
          <a:xfrm>
            <a:off x="411480" y="3785616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1374" name="Text 26"/>
          <p:cNvSpPr/>
          <p:nvPr/>
        </p:nvSpPr>
        <p:spPr bwMode="auto">
          <a:xfrm>
            <a:off x="41148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100"/>
          </a:p>
        </p:txBody>
      </p:sp>
      <p:sp>
        <p:nvSpPr>
          <p:cNvPr id="1251602341" name="Text 27"/>
          <p:cNvSpPr/>
          <p:nvPr/>
        </p:nvSpPr>
        <p:spPr bwMode="auto">
          <a:xfrm>
            <a:off x="960120" y="37673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Supervised models — Decision Tree, Naive Bayes, Logistic Regression, Neural Network, Random Forest, Gradient Boosting</a:t>
            </a:r>
            <a:endParaRPr lang="en-US" sz="1400"/>
          </a:p>
        </p:txBody>
      </p:sp>
      <p:sp>
        <p:nvSpPr>
          <p:cNvPr id="1419765585" name="Shape 28"/>
          <p:cNvSpPr/>
          <p:nvPr/>
        </p:nvSpPr>
        <p:spPr bwMode="auto">
          <a:xfrm>
            <a:off x="411480" y="4206240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8952948" name="Text 29"/>
          <p:cNvSpPr/>
          <p:nvPr/>
        </p:nvSpPr>
        <p:spPr bwMode="auto">
          <a:xfrm>
            <a:off x="4114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100"/>
          </a:p>
        </p:txBody>
      </p:sp>
      <p:sp>
        <p:nvSpPr>
          <p:cNvPr id="1919000572" name="Text 30"/>
          <p:cNvSpPr/>
          <p:nvPr/>
        </p:nvSpPr>
        <p:spPr bwMode="auto">
          <a:xfrm>
            <a:off x="960120" y="41879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Unsupervised — K-Means clustering</a:t>
            </a:r>
            <a:endParaRPr lang="en-US" sz="1400"/>
          </a:p>
        </p:txBody>
      </p:sp>
      <p:sp>
        <p:nvSpPr>
          <p:cNvPr id="669260446" name="Shape 31"/>
          <p:cNvSpPr/>
          <p:nvPr/>
        </p:nvSpPr>
        <p:spPr bwMode="auto">
          <a:xfrm>
            <a:off x="411480" y="4626864"/>
            <a:ext cx="384048" cy="384048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04254" name="Text 32"/>
          <p:cNvSpPr/>
          <p:nvPr/>
        </p:nvSpPr>
        <p:spPr bwMode="auto">
          <a:xfrm>
            <a:off x="4114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100"/>
          </a:p>
        </p:txBody>
      </p:sp>
      <p:sp>
        <p:nvSpPr>
          <p:cNvPr id="907791559" name="Text 33"/>
          <p:cNvSpPr/>
          <p:nvPr/>
        </p:nvSpPr>
        <p:spPr bwMode="auto">
          <a:xfrm>
            <a:off x="960120" y="460857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Model comparison &amp; conclusion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01719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718805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685510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INTRODUCTION</a:t>
            </a:r>
            <a:endParaRPr lang="en-US" sz="2800"/>
          </a:p>
        </p:txBody>
      </p:sp>
      <p:sp>
        <p:nvSpPr>
          <p:cNvPr id="1155163691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81526377" name="Text 4"/>
          <p:cNvSpPr/>
          <p:nvPr/>
        </p:nvSpPr>
        <p:spPr bwMode="auto">
          <a:xfrm>
            <a:off x="502920" y="10058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This project builds a machine-learning pipeline that predicts whether a software module is likely to contain a defect. Predicting defects early lets quality-assurance teams focus testing effort on the riskiest modules, reducing cost and improving reliability.</a:t>
            </a:r>
            <a:endParaRPr lang="en-US" sz="1200"/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2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 use the NASA JM1 dataset from the Metrics Data Program — one of the most widely studied benchmarks for software defect prediction. JM1 captures classical static-code metrics extracted from a real-time predictive ground system written in C.</a:t>
            </a:r>
            <a:endParaRPr lang="en-US" sz="1200"/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2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Three families of features describe each module:</a:t>
            </a:r>
            <a:endParaRPr lang="en-US" sz="1200"/>
          </a:p>
        </p:txBody>
      </p:sp>
      <p:sp>
        <p:nvSpPr>
          <p:cNvPr id="1588244940" name="Text 5"/>
          <p:cNvSpPr/>
          <p:nvPr/>
        </p:nvSpPr>
        <p:spPr bwMode="auto">
          <a:xfrm>
            <a:off x="640080" y="34290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McCabe metrics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— cyclomatic, essential and design complexity</a:t>
            </a:r>
            <a:endParaRPr lang="en-US" sz="1100"/>
          </a:p>
          <a:p>
            <a:pPr marL="0" indent="0">
              <a:spcAft>
                <a:spcPts val="200"/>
              </a:spcAft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Halstead metrics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— volume, length, difficulty, effort, time</a:t>
            </a:r>
            <a:endParaRPr lang="en-US" sz="1100"/>
          </a:p>
          <a:p>
            <a:pPr marL="0" indent="0">
              <a:spcAft>
                <a:spcPts val="200"/>
              </a:spcAft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Line-of-code measures </a:t>
            </a: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— total LOC, blank lines, comment lines, branch count</a:t>
            </a:r>
            <a:endParaRPr lang="en-US" sz="1100"/>
          </a:p>
        </p:txBody>
      </p:sp>
      <p:sp>
        <p:nvSpPr>
          <p:cNvPr id="1436062759" name="Shape 6"/>
          <p:cNvSpPr/>
          <p:nvPr/>
        </p:nvSpPr>
        <p:spPr bwMode="auto">
          <a:xfrm>
            <a:off x="5852160" y="1051560"/>
            <a:ext cx="2834640" cy="35661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921667" name="Text 7"/>
          <p:cNvSpPr/>
          <p:nvPr/>
        </p:nvSpPr>
        <p:spPr bwMode="auto">
          <a:xfrm>
            <a:off x="59893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DATASET AT A GLANCE</a:t>
            </a:r>
            <a:endParaRPr lang="en-US" sz="1000"/>
          </a:p>
        </p:txBody>
      </p:sp>
      <p:sp>
        <p:nvSpPr>
          <p:cNvPr id="215793320" name="Text 8"/>
          <p:cNvSpPr/>
          <p:nvPr/>
        </p:nvSpPr>
        <p:spPr bwMode="auto">
          <a:xfrm>
            <a:off x="598932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13,204</a:t>
            </a:r>
            <a:endParaRPr lang="en-US" sz="2600"/>
          </a:p>
        </p:txBody>
      </p:sp>
      <p:sp>
        <p:nvSpPr>
          <p:cNvPr id="392322001" name="Text 9"/>
          <p:cNvSpPr/>
          <p:nvPr/>
        </p:nvSpPr>
        <p:spPr bwMode="auto">
          <a:xfrm>
            <a:off x="59893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modules (raw)</a:t>
            </a:r>
            <a:endParaRPr lang="en-US" sz="1100"/>
          </a:p>
        </p:txBody>
      </p:sp>
      <p:sp>
        <p:nvSpPr>
          <p:cNvPr id="1107279259" name="Text 10"/>
          <p:cNvSpPr/>
          <p:nvPr/>
        </p:nvSpPr>
        <p:spPr bwMode="auto">
          <a:xfrm>
            <a:off x="5989320" y="23591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  <a:endParaRPr lang="en-US" sz="2600"/>
          </a:p>
        </p:txBody>
      </p:sp>
      <p:sp>
        <p:nvSpPr>
          <p:cNvPr id="930491739" name="Text 11"/>
          <p:cNvSpPr/>
          <p:nvPr/>
        </p:nvSpPr>
        <p:spPr bwMode="auto">
          <a:xfrm>
            <a:off x="5989320" y="2770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code-metric attributes</a:t>
            </a:r>
            <a:endParaRPr lang="en-US" sz="1100"/>
          </a:p>
        </p:txBody>
      </p:sp>
      <p:sp>
        <p:nvSpPr>
          <p:cNvPr id="1688599396" name="Text 12"/>
          <p:cNvSpPr/>
          <p:nvPr/>
        </p:nvSpPr>
        <p:spPr bwMode="auto">
          <a:xfrm>
            <a:off x="5989320" y="31181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~16%</a:t>
            </a:r>
            <a:endParaRPr lang="en-US" sz="2600"/>
          </a:p>
        </p:txBody>
      </p:sp>
      <p:sp>
        <p:nvSpPr>
          <p:cNvPr id="353823226" name="Text 13"/>
          <p:cNvSpPr/>
          <p:nvPr/>
        </p:nvSpPr>
        <p:spPr bwMode="auto">
          <a:xfrm>
            <a:off x="5989320" y="35295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defect rate (imbalanced)</a:t>
            </a:r>
            <a:endParaRPr lang="en-US" sz="1100"/>
          </a:p>
        </p:txBody>
      </p:sp>
      <p:sp>
        <p:nvSpPr>
          <p:cNvPr id="420212568" name="Text 14"/>
          <p:cNvSpPr/>
          <p:nvPr/>
        </p:nvSpPr>
        <p:spPr bwMode="auto">
          <a:xfrm>
            <a:off x="5989320" y="38770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2600"/>
          </a:p>
        </p:txBody>
      </p:sp>
      <p:sp>
        <p:nvSpPr>
          <p:cNvPr id="2035749152" name="Text 15"/>
          <p:cNvSpPr/>
          <p:nvPr/>
        </p:nvSpPr>
        <p:spPr bwMode="auto">
          <a:xfrm>
            <a:off x="5989320" y="4288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binary target  (defect)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017402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696072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106570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DATASET OVERVIEW</a:t>
            </a:r>
            <a:endParaRPr lang="en-US" sz="2800"/>
          </a:p>
        </p:txBody>
      </p:sp>
      <p:sp>
        <p:nvSpPr>
          <p:cNvPr id="253447634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1699678994" name="Text 4"/>
          <p:cNvSpPr/>
          <p:nvPr/>
        </p:nvSpPr>
        <p:spPr bwMode="auto"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A first look at the raw data: 13,204 rows and 22 columns before any cleaning.</a:t>
            </a:r>
            <a:endParaRPr lang="en-US" sz="1200"/>
          </a:p>
        </p:txBody>
      </p:sp>
      <p:sp>
        <p:nvSpPr>
          <p:cNvPr id="675484565" name="Shape 5"/>
          <p:cNvSpPr/>
          <p:nvPr/>
        </p:nvSpPr>
        <p:spPr bwMode="auto">
          <a:xfrm>
            <a:off x="502920" y="123444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701576" name="Shape 6"/>
          <p:cNvSpPr/>
          <p:nvPr/>
        </p:nvSpPr>
        <p:spPr bwMode="auto">
          <a:xfrm>
            <a:off x="502920" y="1234440"/>
            <a:ext cx="73152" cy="11887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06395" name="Text 7"/>
          <p:cNvSpPr/>
          <p:nvPr/>
        </p:nvSpPr>
        <p:spPr bwMode="auto">
          <a:xfrm>
            <a:off x="68580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df.shape</a:t>
            </a:r>
            <a:endParaRPr lang="en-US" sz="1000"/>
          </a:p>
        </p:txBody>
      </p:sp>
      <p:sp>
        <p:nvSpPr>
          <p:cNvPr id="1677529445" name="Text 8"/>
          <p:cNvSpPr/>
          <p:nvPr/>
        </p:nvSpPr>
        <p:spPr bwMode="auto">
          <a:xfrm>
            <a:off x="68580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13,204 rows</a:t>
            </a:r>
            <a:endParaRPr lang="en-US" sz="1400"/>
          </a:p>
        </p:txBody>
      </p:sp>
      <p:sp>
        <p:nvSpPr>
          <p:cNvPr id="1981338903" name="Text 9"/>
          <p:cNvSpPr/>
          <p:nvPr/>
        </p:nvSpPr>
        <p:spPr bwMode="auto">
          <a:xfrm>
            <a:off x="68580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22 columns total</a:t>
            </a:r>
            <a:endParaRPr lang="en-US" sz="900"/>
          </a:p>
        </p:txBody>
      </p:sp>
      <p:sp>
        <p:nvSpPr>
          <p:cNvPr id="1303263077" name="Shape 10"/>
          <p:cNvSpPr/>
          <p:nvPr/>
        </p:nvSpPr>
        <p:spPr bwMode="auto">
          <a:xfrm>
            <a:off x="3337560" y="123444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141413" name="Shape 11"/>
          <p:cNvSpPr/>
          <p:nvPr/>
        </p:nvSpPr>
        <p:spPr bwMode="auto">
          <a:xfrm>
            <a:off x="3337560" y="1234440"/>
            <a:ext cx="73152" cy="11887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411304" name="Text 12"/>
          <p:cNvSpPr/>
          <p:nvPr/>
        </p:nvSpPr>
        <p:spPr bwMode="auto"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Df.info</a:t>
            </a: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()</a:t>
            </a:r>
            <a:endParaRPr lang="en-US" sz="1000"/>
          </a:p>
        </p:txBody>
      </p:sp>
      <p:sp>
        <p:nvSpPr>
          <p:cNvPr id="706680000" name="Text 13"/>
          <p:cNvSpPr/>
          <p:nvPr/>
        </p:nvSpPr>
        <p:spPr bwMode="auto">
          <a:xfrm>
            <a:off x="352044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21 numeric + 1 bool</a:t>
            </a:r>
            <a:endParaRPr lang="en-US" sz="1400"/>
          </a:p>
        </p:txBody>
      </p:sp>
      <p:sp>
        <p:nvSpPr>
          <p:cNvPr id="1677559849" name="Text 14"/>
          <p:cNvSpPr/>
          <p:nvPr/>
        </p:nvSpPr>
        <p:spPr bwMode="auto">
          <a:xfrm>
            <a:off x="352044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defects column = True/False</a:t>
            </a:r>
            <a:endParaRPr lang="en-US" sz="900"/>
          </a:p>
        </p:txBody>
      </p:sp>
      <p:sp>
        <p:nvSpPr>
          <p:cNvPr id="1447270770" name="Shape 15"/>
          <p:cNvSpPr/>
          <p:nvPr/>
        </p:nvSpPr>
        <p:spPr bwMode="auto">
          <a:xfrm>
            <a:off x="6172200" y="1234440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550156" name="Shape 16"/>
          <p:cNvSpPr/>
          <p:nvPr/>
        </p:nvSpPr>
        <p:spPr bwMode="auto">
          <a:xfrm>
            <a:off x="6172200" y="1234440"/>
            <a:ext cx="73152" cy="11887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090372" name="Text 17"/>
          <p:cNvSpPr/>
          <p:nvPr/>
        </p:nvSpPr>
        <p:spPr bwMode="auto">
          <a:xfrm>
            <a:off x="635508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Target</a:t>
            </a:r>
            <a:endParaRPr lang="en-US" sz="1000"/>
          </a:p>
        </p:txBody>
      </p:sp>
      <p:sp>
        <p:nvSpPr>
          <p:cNvPr id="889173756" name="Text 18"/>
          <p:cNvSpPr/>
          <p:nvPr/>
        </p:nvSpPr>
        <p:spPr bwMode="auto">
          <a:xfrm>
            <a:off x="6355080" y="1572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0: 11,101    1: 2,103</a:t>
            </a:r>
            <a:endParaRPr/>
          </a:p>
        </p:txBody>
      </p:sp>
      <p:sp>
        <p:nvSpPr>
          <p:cNvPr id="53174053" name="Text 19"/>
          <p:cNvSpPr/>
          <p:nvPr/>
        </p:nvSpPr>
        <p:spPr bwMode="auto">
          <a:xfrm>
            <a:off x="6355080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Strongly imbalanced — only ~16% defective</a:t>
            </a:r>
            <a:endParaRPr/>
          </a:p>
        </p:txBody>
      </p:sp>
      <p:sp>
        <p:nvSpPr>
          <p:cNvPr id="1074476617" name="Text 20"/>
          <p:cNvSpPr/>
          <p:nvPr/>
        </p:nvSpPr>
        <p:spPr bwMode="auto">
          <a:xfrm>
            <a:off x="502920" y="2560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df.head() — first 5 rows of the raw dataset (original column names, before renaming)</a:t>
            </a:r>
            <a:endParaRPr lang="en-US" sz="1100"/>
          </a:p>
        </p:txBody>
      </p:sp>
      <p:graphicFrame>
        <p:nvGraphicFramePr>
          <p:cNvPr id="209900644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2920" y="2834640"/>
          <a:ext cx="7498080" cy="16459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20040"/>
                <a:gridCol w="685800"/>
                <a:gridCol w="548640"/>
                <a:gridCol w="548640"/>
                <a:gridCol w="548640"/>
                <a:gridCol w="685800"/>
                <a:gridCol w="777240"/>
                <a:gridCol w="640080"/>
                <a:gridCol w="640080"/>
                <a:gridCol w="640080"/>
                <a:gridCol w="822960"/>
                <a:gridCol w="640080"/>
              </a:tblGrid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#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loc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v(g)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ev(g)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iv(g)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n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v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d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lOCode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uniq_Op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branchCount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</a:rPr>
                        <a:t>defects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2E8B8B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8A8A8A"/>
                          </a:solidFill>
                          <a:latin typeface="Consolas"/>
                          <a:ea typeface="Consolas"/>
                          <a:cs typeface="Consolas"/>
                        </a:rPr>
                        <a:t>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1.1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1.4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1.4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1.4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1.3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1.30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1.30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1.2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1.4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2E8B8B"/>
                          </a:solidFill>
                          <a:latin typeface="Consolas"/>
                          <a:ea typeface="Consolas"/>
                          <a:cs typeface="Consolas"/>
                        </a:rPr>
                        <a:t>False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8A8A8A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2E8B8B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8A8A8A"/>
                          </a:solidFill>
                          <a:latin typeface="Consolas"/>
                          <a:ea typeface="Consolas"/>
                          <a:cs typeface="Consolas"/>
                        </a:rPr>
                        <a:t>2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72.0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7.0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6.0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198.0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1134.13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20.31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51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17.0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13.0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2E8B8B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8A8A8A"/>
                          </a:solidFill>
                          <a:latin typeface="Consolas"/>
                          <a:ea typeface="Consolas"/>
                          <a:cs typeface="Consolas"/>
                        </a:rPr>
                        <a:t>3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190.0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3.0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3.0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600.0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4348.76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17.06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129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17.0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5.0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2E8B8B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8A8A8A"/>
                          </a:solidFill>
                          <a:latin typeface="Consolas"/>
                          <a:ea typeface="Consolas"/>
                          <a:cs typeface="Consolas"/>
                        </a:rPr>
                        <a:t>4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37.0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4.0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4.0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126.0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599.12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17.19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28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11.0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4A4A4A"/>
                          </a:solidFill>
                          <a:latin typeface="Consolas"/>
                          <a:ea typeface="Consolas"/>
                          <a:cs typeface="Consolas"/>
                        </a:rPr>
                        <a:t>7.0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  <a:defRPr/>
                      </a:pPr>
                      <a:r>
                        <a:rPr lang="en-US" sz="900">
                          <a:solidFill>
                            <a:srgbClr val="2E8B8B"/>
                          </a:solidFill>
                          <a:latin typeface="Consolas"/>
                          <a:ea typeface="Consolas"/>
                          <a:cs typeface="Consolas"/>
                        </a:rPr>
                        <a:t>True</a:t>
                      </a:r>
                      <a:endParaRPr lang="en-US" sz="90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2939615" name="Text 21"/>
          <p:cNvSpPr/>
          <p:nvPr/>
        </p:nvSpPr>
        <p:spPr bwMode="auto"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12 of 22 columns shown. Full column list and meanings on the next slides.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300448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85691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820878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WHAT DO THE COLUMNS MEAN? (1 / 2)</a:t>
            </a:r>
            <a:endParaRPr lang="en-US" sz="2800"/>
          </a:p>
        </p:txBody>
      </p:sp>
      <p:sp>
        <p:nvSpPr>
          <p:cNvPr id="1779452673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  <p:sp>
        <p:nvSpPr>
          <p:cNvPr id="199020084" name="Text 4"/>
          <p:cNvSpPr/>
          <p:nvPr/>
        </p:nvSpPr>
        <p:spPr bwMode="auto">
          <a:xfrm>
            <a:off x="50292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The column names in the raw file are short codes. Here is what each one actually measures:</a:t>
            </a:r>
            <a:endParaRPr lang="en-US" sz="1200"/>
          </a:p>
        </p:txBody>
      </p:sp>
      <p:sp>
        <p:nvSpPr>
          <p:cNvPr id="1462592140" name="Shape 5"/>
          <p:cNvSpPr/>
          <p:nvPr/>
        </p:nvSpPr>
        <p:spPr bwMode="auto">
          <a:xfrm>
            <a:off x="502920" y="1234440"/>
            <a:ext cx="8229600" cy="292608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643880" name="Text 6"/>
          <p:cNvSpPr/>
          <p:nvPr/>
        </p:nvSpPr>
        <p:spPr bwMode="auto">
          <a:xfrm>
            <a:off x="594360" y="1234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McCabe Complexity Metrics  —  how complicated the code logic is</a:t>
            </a:r>
            <a:endParaRPr lang="en-US" sz="1100"/>
          </a:p>
        </p:txBody>
      </p:sp>
      <p:sp>
        <p:nvSpPr>
          <p:cNvPr id="1769269095" name="Shape 7"/>
          <p:cNvSpPr/>
          <p:nvPr/>
        </p:nvSpPr>
        <p:spPr bwMode="auto">
          <a:xfrm>
            <a:off x="502920" y="1572768"/>
            <a:ext cx="8229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373420" name="Text 8"/>
          <p:cNvSpPr/>
          <p:nvPr/>
        </p:nvSpPr>
        <p:spPr bwMode="auto">
          <a:xfrm>
            <a:off x="59436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loc → lines_of_code</a:t>
            </a:r>
            <a:endParaRPr lang="en-US" sz="1000"/>
          </a:p>
        </p:txBody>
      </p:sp>
      <p:sp>
        <p:nvSpPr>
          <p:cNvPr id="452497951" name="Text 9"/>
          <p:cNvSpPr/>
          <p:nvPr/>
        </p:nvSpPr>
        <p:spPr bwMode="auto">
          <a:xfrm>
            <a:off x="3429000" y="15727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Total number of lines of code in the module. Bigger = more complex.</a:t>
            </a:r>
            <a:endParaRPr lang="en-US" sz="1000"/>
          </a:p>
        </p:txBody>
      </p:sp>
      <p:sp>
        <p:nvSpPr>
          <p:cNvPr id="726783294" name="Shape 10"/>
          <p:cNvSpPr/>
          <p:nvPr/>
        </p:nvSpPr>
        <p:spPr bwMode="auto">
          <a:xfrm>
            <a:off x="502920" y="195681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317972" name="Text 11"/>
          <p:cNvSpPr/>
          <p:nvPr/>
        </p:nvSpPr>
        <p:spPr bwMode="auto">
          <a:xfrm>
            <a:off x="594360" y="19568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v(g) → cyclomatic_complexity</a:t>
            </a:r>
            <a:endParaRPr lang="en-US" sz="1000"/>
          </a:p>
        </p:txBody>
      </p:sp>
      <p:sp>
        <p:nvSpPr>
          <p:cNvPr id="771894109" name="Text 12"/>
          <p:cNvSpPr/>
          <p:nvPr/>
        </p:nvSpPr>
        <p:spPr bwMode="auto">
          <a:xfrm>
            <a:off x="3429000" y="195681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many different paths can run through the code. High number = harder to test.</a:t>
            </a:r>
            <a:endParaRPr lang="en-US" sz="1000"/>
          </a:p>
        </p:txBody>
      </p:sp>
      <p:sp>
        <p:nvSpPr>
          <p:cNvPr id="77661955" name="Shape 13"/>
          <p:cNvSpPr/>
          <p:nvPr/>
        </p:nvSpPr>
        <p:spPr bwMode="auto">
          <a:xfrm>
            <a:off x="502920" y="2340864"/>
            <a:ext cx="8229600" cy="384048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080384" name="Text 14"/>
          <p:cNvSpPr/>
          <p:nvPr/>
        </p:nvSpPr>
        <p:spPr bwMode="auto">
          <a:xfrm>
            <a:off x="594360" y="23408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ev(g) → essential_complexity</a:t>
            </a:r>
            <a:endParaRPr lang="en-US" sz="1000"/>
          </a:p>
        </p:txBody>
      </p:sp>
      <p:sp>
        <p:nvSpPr>
          <p:cNvPr id="290466949" name="Text 15"/>
          <p:cNvSpPr/>
          <p:nvPr/>
        </p:nvSpPr>
        <p:spPr bwMode="auto">
          <a:xfrm>
            <a:off x="3429000" y="23408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messy (unstructured) the code is. Ideally should be 1.</a:t>
            </a:r>
            <a:endParaRPr lang="en-US" sz="1000"/>
          </a:p>
        </p:txBody>
      </p:sp>
      <p:sp>
        <p:nvSpPr>
          <p:cNvPr id="530521994" name="Shape 16"/>
          <p:cNvSpPr/>
          <p:nvPr/>
        </p:nvSpPr>
        <p:spPr bwMode="auto">
          <a:xfrm>
            <a:off x="502920" y="2724911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9497" name="Text 17"/>
          <p:cNvSpPr/>
          <p:nvPr/>
        </p:nvSpPr>
        <p:spPr bwMode="auto">
          <a:xfrm>
            <a:off x="594360" y="272491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iv(g) → design_complexity</a:t>
            </a:r>
            <a:endParaRPr lang="en-US" sz="1000"/>
          </a:p>
        </p:txBody>
      </p:sp>
      <p:sp>
        <p:nvSpPr>
          <p:cNvPr id="902157966" name="Text 18"/>
          <p:cNvSpPr/>
          <p:nvPr/>
        </p:nvSpPr>
        <p:spPr bwMode="auto">
          <a:xfrm>
            <a:off x="3429000" y="2724911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complex the calls to other modules are. Shows how connected the code is.</a:t>
            </a:r>
            <a:endParaRPr lang="en-US" sz="1000"/>
          </a:p>
        </p:txBody>
      </p:sp>
      <p:sp>
        <p:nvSpPr>
          <p:cNvPr id="439113876" name="Shape 19"/>
          <p:cNvSpPr/>
          <p:nvPr/>
        </p:nvSpPr>
        <p:spPr bwMode="auto">
          <a:xfrm>
            <a:off x="502920" y="3200400"/>
            <a:ext cx="8229600" cy="292608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523545" name="Text 20"/>
          <p:cNvSpPr/>
          <p:nvPr/>
        </p:nvSpPr>
        <p:spPr bwMode="auto">
          <a:xfrm>
            <a:off x="594360" y="3200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Halstead Metrics  —  measure code complexity based on operators and operands</a:t>
            </a:r>
            <a:endParaRPr lang="en-US" sz="1100"/>
          </a:p>
        </p:txBody>
      </p:sp>
      <p:sp>
        <p:nvSpPr>
          <p:cNvPr id="1023413535" name="Shape 21"/>
          <p:cNvSpPr/>
          <p:nvPr/>
        </p:nvSpPr>
        <p:spPr bwMode="auto">
          <a:xfrm>
            <a:off x="502920" y="3493008"/>
            <a:ext cx="8229600" cy="384048"/>
          </a:xfrm>
          <a:prstGeom prst="rect">
            <a:avLst/>
          </a:prstGeom>
          <a:solidFill>
            <a:srgbClr val="F0FAF8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657890" name="Text 22"/>
          <p:cNvSpPr/>
          <p:nvPr/>
        </p:nvSpPr>
        <p:spPr bwMode="auto">
          <a:xfrm>
            <a:off x="594360" y="3493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n → halstead_length</a:t>
            </a:r>
            <a:endParaRPr lang="en-US" sz="1000"/>
          </a:p>
        </p:txBody>
      </p:sp>
      <p:sp>
        <p:nvSpPr>
          <p:cNvPr id="694636396" name="Text 23"/>
          <p:cNvSpPr/>
          <p:nvPr/>
        </p:nvSpPr>
        <p:spPr bwMode="auto">
          <a:xfrm>
            <a:off x="3429000" y="34930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Total count of all operators and operands used in the code.</a:t>
            </a:r>
            <a:endParaRPr lang="en-US" sz="1000"/>
          </a:p>
        </p:txBody>
      </p:sp>
      <p:sp>
        <p:nvSpPr>
          <p:cNvPr id="1911769199" name="Shape 24"/>
          <p:cNvSpPr/>
          <p:nvPr/>
        </p:nvSpPr>
        <p:spPr bwMode="auto">
          <a:xfrm>
            <a:off x="502920" y="387705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432099" name="Text 25"/>
          <p:cNvSpPr/>
          <p:nvPr/>
        </p:nvSpPr>
        <p:spPr bwMode="auto">
          <a:xfrm>
            <a:off x="594360" y="38770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v → halstead_volume</a:t>
            </a:r>
            <a:endParaRPr lang="en-US" sz="1000"/>
          </a:p>
        </p:txBody>
      </p:sp>
      <p:sp>
        <p:nvSpPr>
          <p:cNvPr id="1991591699" name="Text 26"/>
          <p:cNvSpPr/>
          <p:nvPr/>
        </p:nvSpPr>
        <p:spPr bwMode="auto">
          <a:xfrm>
            <a:off x="3429000" y="3877056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much information the code contains (based on length and vocabulary).</a:t>
            </a:r>
            <a:endParaRPr lang="en-US" sz="1000"/>
          </a:p>
        </p:txBody>
      </p:sp>
      <p:sp>
        <p:nvSpPr>
          <p:cNvPr id="1474704534" name="Shape 27"/>
          <p:cNvSpPr/>
          <p:nvPr/>
        </p:nvSpPr>
        <p:spPr bwMode="auto">
          <a:xfrm>
            <a:off x="502920" y="4261104"/>
            <a:ext cx="8229600" cy="384048"/>
          </a:xfrm>
          <a:prstGeom prst="rect">
            <a:avLst/>
          </a:prstGeom>
          <a:solidFill>
            <a:srgbClr val="F0FAF8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39625" name="Text 28"/>
          <p:cNvSpPr/>
          <p:nvPr/>
        </p:nvSpPr>
        <p:spPr bwMode="auto">
          <a:xfrm>
            <a:off x="594360" y="42611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l → halstead_level</a:t>
            </a:r>
            <a:endParaRPr lang="en-US" sz="1000"/>
          </a:p>
        </p:txBody>
      </p:sp>
      <p:sp>
        <p:nvSpPr>
          <p:cNvPr id="1450330782" name="Text 29"/>
          <p:cNvSpPr/>
          <p:nvPr/>
        </p:nvSpPr>
        <p:spPr bwMode="auto">
          <a:xfrm>
            <a:off x="3429000" y="42611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abstract the code is. Higher = cleaner abstraction.</a:t>
            </a:r>
            <a:endParaRPr lang="en-US" sz="1000"/>
          </a:p>
        </p:txBody>
      </p:sp>
      <p:sp>
        <p:nvSpPr>
          <p:cNvPr id="1907123667" name="Shape 30"/>
          <p:cNvSpPr/>
          <p:nvPr/>
        </p:nvSpPr>
        <p:spPr bwMode="auto">
          <a:xfrm>
            <a:off x="502920" y="4645152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360130" name="Text 31"/>
          <p:cNvSpPr/>
          <p:nvPr/>
        </p:nvSpPr>
        <p:spPr bwMode="auto">
          <a:xfrm>
            <a:off x="59436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d → halstead_difficulty</a:t>
            </a:r>
            <a:endParaRPr lang="en-US" sz="1000"/>
          </a:p>
        </p:txBody>
      </p:sp>
      <p:sp>
        <p:nvSpPr>
          <p:cNvPr id="1347958850" name="Text 32"/>
          <p:cNvSpPr/>
          <p:nvPr/>
        </p:nvSpPr>
        <p:spPr bwMode="auto">
          <a:xfrm>
            <a:off x="3429000" y="46451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hard the code is to write and understand. Higher = harder.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906817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804199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083967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WHAT DO THE COLUMNS MEAN? (2 / 2)</a:t>
            </a:r>
            <a:endParaRPr lang="en-US" sz="2800"/>
          </a:p>
        </p:txBody>
      </p:sp>
      <p:sp>
        <p:nvSpPr>
          <p:cNvPr id="1082529440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  <p:sp>
        <p:nvSpPr>
          <p:cNvPr id="59831888" name="Shape 4"/>
          <p:cNvSpPr/>
          <p:nvPr/>
        </p:nvSpPr>
        <p:spPr bwMode="auto">
          <a:xfrm>
            <a:off x="502920" y="804672"/>
            <a:ext cx="8229600" cy="274320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413868" name="Text 5"/>
          <p:cNvSpPr/>
          <p:nvPr/>
        </p:nvSpPr>
        <p:spPr bwMode="auto">
          <a:xfrm>
            <a:off x="59436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Halstead Metrics (continued)</a:t>
            </a:r>
            <a:endParaRPr lang="en-US" sz="1000"/>
          </a:p>
        </p:txBody>
      </p:sp>
      <p:sp>
        <p:nvSpPr>
          <p:cNvPr id="84388698" name="Shape 6"/>
          <p:cNvSpPr/>
          <p:nvPr/>
        </p:nvSpPr>
        <p:spPr bwMode="auto">
          <a:xfrm>
            <a:off x="502920" y="1078992"/>
            <a:ext cx="8229600" cy="329184"/>
          </a:xfrm>
          <a:prstGeom prst="rect">
            <a:avLst/>
          </a:prstGeom>
          <a:solidFill>
            <a:srgbClr val="F0FAF8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253073" name="Text 7"/>
          <p:cNvSpPr/>
          <p:nvPr/>
        </p:nvSpPr>
        <p:spPr bwMode="auto">
          <a:xfrm>
            <a:off x="594360" y="1078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i → halstead_intelligence</a:t>
            </a:r>
            <a:endParaRPr lang="en-US" sz="950"/>
          </a:p>
        </p:txBody>
      </p:sp>
      <p:sp>
        <p:nvSpPr>
          <p:cNvPr id="693338399" name="Text 8"/>
          <p:cNvSpPr/>
          <p:nvPr/>
        </p:nvSpPr>
        <p:spPr bwMode="auto">
          <a:xfrm>
            <a:off x="3429000" y="107899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much 'meaning' per unit of effort — a measure of code clarity.</a:t>
            </a:r>
            <a:endParaRPr lang="en-US" sz="950"/>
          </a:p>
        </p:txBody>
      </p:sp>
      <p:sp>
        <p:nvSpPr>
          <p:cNvPr id="2027957328" name="Shape 9"/>
          <p:cNvSpPr/>
          <p:nvPr/>
        </p:nvSpPr>
        <p:spPr bwMode="auto">
          <a:xfrm>
            <a:off x="502920" y="1408176"/>
            <a:ext cx="8229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789872" name="Text 10"/>
          <p:cNvSpPr/>
          <p:nvPr/>
        </p:nvSpPr>
        <p:spPr bwMode="auto">
          <a:xfrm>
            <a:off x="594360" y="1408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e → halstead_effort</a:t>
            </a:r>
            <a:endParaRPr lang="en-US" sz="950"/>
          </a:p>
        </p:txBody>
      </p:sp>
      <p:sp>
        <p:nvSpPr>
          <p:cNvPr id="16907225" name="Text 11"/>
          <p:cNvSpPr/>
          <p:nvPr/>
        </p:nvSpPr>
        <p:spPr bwMode="auto">
          <a:xfrm>
            <a:off x="3429000" y="14081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much mental effort it takes to write or read the code.</a:t>
            </a:r>
            <a:endParaRPr lang="en-US" sz="950"/>
          </a:p>
        </p:txBody>
      </p:sp>
      <p:sp>
        <p:nvSpPr>
          <p:cNvPr id="1419028316" name="Shape 12"/>
          <p:cNvSpPr/>
          <p:nvPr/>
        </p:nvSpPr>
        <p:spPr bwMode="auto">
          <a:xfrm>
            <a:off x="502920" y="1737360"/>
            <a:ext cx="8229600" cy="329184"/>
          </a:xfrm>
          <a:prstGeom prst="rect">
            <a:avLst/>
          </a:prstGeom>
          <a:solidFill>
            <a:srgbClr val="F0FAF8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2078762" name="Text 13"/>
          <p:cNvSpPr/>
          <p:nvPr/>
        </p:nvSpPr>
        <p:spPr bwMode="auto">
          <a:xfrm>
            <a:off x="594360" y="1737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b → halstead_bugs</a:t>
            </a:r>
            <a:endParaRPr lang="en-US" sz="950"/>
          </a:p>
        </p:txBody>
      </p:sp>
      <p:sp>
        <p:nvSpPr>
          <p:cNvPr id="2073692687" name="Text 14"/>
          <p:cNvSpPr/>
          <p:nvPr/>
        </p:nvSpPr>
        <p:spPr bwMode="auto">
          <a:xfrm>
            <a:off x="3429000" y="17373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Estimated number of bugs — predicted by Halstead's formula.</a:t>
            </a:r>
            <a:endParaRPr lang="en-US" sz="950"/>
          </a:p>
        </p:txBody>
      </p:sp>
      <p:sp>
        <p:nvSpPr>
          <p:cNvPr id="1737692637" name="Shape 15"/>
          <p:cNvSpPr/>
          <p:nvPr/>
        </p:nvSpPr>
        <p:spPr bwMode="auto">
          <a:xfrm>
            <a:off x="502920" y="2066544"/>
            <a:ext cx="8229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204761" name="Text 16"/>
          <p:cNvSpPr/>
          <p:nvPr/>
        </p:nvSpPr>
        <p:spPr bwMode="auto">
          <a:xfrm>
            <a:off x="594360" y="2066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t → halstead_time</a:t>
            </a:r>
            <a:endParaRPr lang="en-US" sz="950"/>
          </a:p>
        </p:txBody>
      </p:sp>
      <p:sp>
        <p:nvSpPr>
          <p:cNvPr id="956896049" name="Text 17"/>
          <p:cNvSpPr/>
          <p:nvPr/>
        </p:nvSpPr>
        <p:spPr bwMode="auto">
          <a:xfrm>
            <a:off x="3429000" y="20665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Estimated time (in seconds) needed to write the code.</a:t>
            </a:r>
            <a:endParaRPr lang="en-US" sz="950"/>
          </a:p>
        </p:txBody>
      </p:sp>
      <p:sp>
        <p:nvSpPr>
          <p:cNvPr id="1336501746" name="Shape 18"/>
          <p:cNvSpPr/>
          <p:nvPr/>
        </p:nvSpPr>
        <p:spPr bwMode="auto">
          <a:xfrm>
            <a:off x="502920" y="2441448"/>
            <a:ext cx="8229600" cy="2743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988132" name="Text 19"/>
          <p:cNvSpPr/>
          <p:nvPr/>
        </p:nvSpPr>
        <p:spPr bwMode="auto">
          <a:xfrm>
            <a:off x="594360" y="2441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Line-Count &amp; Operator/Operand Metrics</a:t>
            </a:r>
            <a:endParaRPr lang="en-US" sz="1000"/>
          </a:p>
        </p:txBody>
      </p:sp>
      <p:sp>
        <p:nvSpPr>
          <p:cNvPr id="197824022" name="Shape 20"/>
          <p:cNvSpPr/>
          <p:nvPr/>
        </p:nvSpPr>
        <p:spPr bwMode="auto">
          <a:xfrm>
            <a:off x="502920" y="2715768"/>
            <a:ext cx="822960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755775" name="Text 21"/>
          <p:cNvSpPr/>
          <p:nvPr/>
        </p:nvSpPr>
        <p:spPr bwMode="auto">
          <a:xfrm>
            <a:off x="594360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lOCode → code_lines</a:t>
            </a:r>
            <a:endParaRPr lang="en-US" sz="850"/>
          </a:p>
        </p:txBody>
      </p:sp>
      <p:sp>
        <p:nvSpPr>
          <p:cNvPr id="734314275" name="Text 22"/>
          <p:cNvSpPr/>
          <p:nvPr/>
        </p:nvSpPr>
        <p:spPr bwMode="auto">
          <a:xfrm>
            <a:off x="3886200" y="2715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Number of lines that are actual code (not comments or blank).</a:t>
            </a:r>
            <a:endParaRPr lang="en-US" sz="850"/>
          </a:p>
        </p:txBody>
      </p:sp>
      <p:sp>
        <p:nvSpPr>
          <p:cNvPr id="398165551" name="Shape 23"/>
          <p:cNvSpPr/>
          <p:nvPr/>
        </p:nvSpPr>
        <p:spPr bwMode="auto">
          <a:xfrm>
            <a:off x="502920" y="2971800"/>
            <a:ext cx="8229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809330" name="Text 24"/>
          <p:cNvSpPr/>
          <p:nvPr/>
        </p:nvSpPr>
        <p:spPr bwMode="auto">
          <a:xfrm>
            <a:off x="59436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lOComment → comment_lines</a:t>
            </a:r>
            <a:endParaRPr lang="en-US" sz="850"/>
          </a:p>
        </p:txBody>
      </p:sp>
      <p:sp>
        <p:nvSpPr>
          <p:cNvPr id="622565329" name="Text 25"/>
          <p:cNvSpPr/>
          <p:nvPr/>
        </p:nvSpPr>
        <p:spPr bwMode="auto">
          <a:xfrm>
            <a:off x="3886200" y="29718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Number of comment lines in the file.</a:t>
            </a:r>
            <a:endParaRPr lang="en-US" sz="850"/>
          </a:p>
        </p:txBody>
      </p:sp>
      <p:sp>
        <p:nvSpPr>
          <p:cNvPr id="1515642053" name="Shape 26"/>
          <p:cNvSpPr/>
          <p:nvPr/>
        </p:nvSpPr>
        <p:spPr bwMode="auto">
          <a:xfrm>
            <a:off x="502920" y="3227832"/>
            <a:ext cx="822960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433552" name="Text 27"/>
          <p:cNvSpPr/>
          <p:nvPr/>
        </p:nvSpPr>
        <p:spPr bwMode="auto">
          <a:xfrm>
            <a:off x="59436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lOBlank → blank_lines</a:t>
            </a:r>
            <a:endParaRPr lang="en-US" sz="850"/>
          </a:p>
        </p:txBody>
      </p:sp>
      <p:sp>
        <p:nvSpPr>
          <p:cNvPr id="1793594835" name="Text 28"/>
          <p:cNvSpPr/>
          <p:nvPr/>
        </p:nvSpPr>
        <p:spPr bwMode="auto">
          <a:xfrm>
            <a:off x="3886200" y="3227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Number of blank (empty) lines.</a:t>
            </a:r>
            <a:endParaRPr lang="en-US" sz="850"/>
          </a:p>
        </p:txBody>
      </p:sp>
      <p:sp>
        <p:nvSpPr>
          <p:cNvPr id="1099480049" name="Shape 29"/>
          <p:cNvSpPr/>
          <p:nvPr/>
        </p:nvSpPr>
        <p:spPr bwMode="auto">
          <a:xfrm>
            <a:off x="502920" y="3483864"/>
            <a:ext cx="8229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815890" name="Text 30"/>
          <p:cNvSpPr/>
          <p:nvPr/>
        </p:nvSpPr>
        <p:spPr bwMode="auto">
          <a:xfrm>
            <a:off x="59436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locCodeAndComment → code_comment_lines</a:t>
            </a:r>
            <a:endParaRPr lang="en-US" sz="850"/>
          </a:p>
        </p:txBody>
      </p:sp>
      <p:sp>
        <p:nvSpPr>
          <p:cNvPr id="1378319031" name="Text 31"/>
          <p:cNvSpPr/>
          <p:nvPr/>
        </p:nvSpPr>
        <p:spPr bwMode="auto">
          <a:xfrm>
            <a:off x="3886200" y="3483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Lines that contain both code and a comment together.</a:t>
            </a:r>
            <a:endParaRPr lang="en-US" sz="850"/>
          </a:p>
        </p:txBody>
      </p:sp>
      <p:sp>
        <p:nvSpPr>
          <p:cNvPr id="1984744764" name="Shape 32"/>
          <p:cNvSpPr/>
          <p:nvPr/>
        </p:nvSpPr>
        <p:spPr bwMode="auto">
          <a:xfrm>
            <a:off x="502920" y="3739896"/>
            <a:ext cx="822960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035579" name="Text 33"/>
          <p:cNvSpPr/>
          <p:nvPr/>
        </p:nvSpPr>
        <p:spPr bwMode="auto">
          <a:xfrm>
            <a:off x="594360" y="3739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uniq_Op → unique_operators</a:t>
            </a:r>
            <a:endParaRPr lang="en-US" sz="850"/>
          </a:p>
        </p:txBody>
      </p:sp>
      <p:sp>
        <p:nvSpPr>
          <p:cNvPr id="1186485262" name="Text 34"/>
          <p:cNvSpPr/>
          <p:nvPr/>
        </p:nvSpPr>
        <p:spPr bwMode="auto">
          <a:xfrm>
            <a:off x="3886200" y="3739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many distinct operators are used (e.g. +, -, *, if, while).</a:t>
            </a:r>
            <a:endParaRPr lang="en-US" sz="850"/>
          </a:p>
        </p:txBody>
      </p:sp>
      <p:sp>
        <p:nvSpPr>
          <p:cNvPr id="765652915" name="Shape 35"/>
          <p:cNvSpPr/>
          <p:nvPr/>
        </p:nvSpPr>
        <p:spPr bwMode="auto">
          <a:xfrm>
            <a:off x="502920" y="3995928"/>
            <a:ext cx="8229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26142" name="Text 36"/>
          <p:cNvSpPr/>
          <p:nvPr/>
        </p:nvSpPr>
        <p:spPr bwMode="auto">
          <a:xfrm>
            <a:off x="594360" y="3995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uniq_Opnd → unique_operands</a:t>
            </a:r>
            <a:endParaRPr lang="en-US" sz="850"/>
          </a:p>
        </p:txBody>
      </p:sp>
      <p:sp>
        <p:nvSpPr>
          <p:cNvPr id="1179135471" name="Text 37"/>
          <p:cNvSpPr/>
          <p:nvPr/>
        </p:nvSpPr>
        <p:spPr bwMode="auto">
          <a:xfrm>
            <a:off x="3886200" y="39959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How many distinct variables and values are used.</a:t>
            </a:r>
            <a:endParaRPr lang="en-US" sz="850"/>
          </a:p>
        </p:txBody>
      </p:sp>
      <p:sp>
        <p:nvSpPr>
          <p:cNvPr id="2145152332" name="Shape 38"/>
          <p:cNvSpPr/>
          <p:nvPr/>
        </p:nvSpPr>
        <p:spPr bwMode="auto">
          <a:xfrm>
            <a:off x="502920" y="4251960"/>
            <a:ext cx="822960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5829651" name="Text 39"/>
          <p:cNvSpPr/>
          <p:nvPr/>
        </p:nvSpPr>
        <p:spPr bwMode="auto">
          <a:xfrm>
            <a:off x="594360" y="4251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total_Op → total_operators</a:t>
            </a:r>
            <a:endParaRPr lang="en-US" sz="850"/>
          </a:p>
        </p:txBody>
      </p:sp>
      <p:sp>
        <p:nvSpPr>
          <p:cNvPr id="1134746333" name="Text 40"/>
          <p:cNvSpPr/>
          <p:nvPr/>
        </p:nvSpPr>
        <p:spPr bwMode="auto">
          <a:xfrm>
            <a:off x="3886200" y="4251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Total count of all operator uses (includes repeats).</a:t>
            </a:r>
            <a:endParaRPr lang="en-US" sz="850"/>
          </a:p>
        </p:txBody>
      </p:sp>
      <p:sp>
        <p:nvSpPr>
          <p:cNvPr id="1434116521" name="Shape 41"/>
          <p:cNvSpPr/>
          <p:nvPr/>
        </p:nvSpPr>
        <p:spPr bwMode="auto">
          <a:xfrm>
            <a:off x="502920" y="4507992"/>
            <a:ext cx="82296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053003" name="Text 42"/>
          <p:cNvSpPr/>
          <p:nvPr/>
        </p:nvSpPr>
        <p:spPr bwMode="auto">
          <a:xfrm>
            <a:off x="594360" y="4507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total_Opnd → total_operands</a:t>
            </a:r>
            <a:endParaRPr lang="en-US" sz="850"/>
          </a:p>
        </p:txBody>
      </p:sp>
      <p:sp>
        <p:nvSpPr>
          <p:cNvPr id="1279099200" name="Text 43"/>
          <p:cNvSpPr/>
          <p:nvPr/>
        </p:nvSpPr>
        <p:spPr bwMode="auto">
          <a:xfrm>
            <a:off x="3886200" y="4507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Total count of all operand uses (includes repeats).</a:t>
            </a:r>
            <a:endParaRPr lang="en-US" sz="850"/>
          </a:p>
        </p:txBody>
      </p:sp>
      <p:sp>
        <p:nvSpPr>
          <p:cNvPr id="1495154352" name="Shape 44"/>
          <p:cNvSpPr/>
          <p:nvPr/>
        </p:nvSpPr>
        <p:spPr bwMode="auto">
          <a:xfrm>
            <a:off x="502920" y="4764024"/>
            <a:ext cx="8229600" cy="256032"/>
          </a:xfrm>
          <a:prstGeom prst="rect">
            <a:avLst/>
          </a:prstGeom>
          <a:solidFill>
            <a:srgbClr val="F0F4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80364" name="Text 45"/>
          <p:cNvSpPr/>
          <p:nvPr/>
        </p:nvSpPr>
        <p:spPr bwMode="auto">
          <a:xfrm>
            <a:off x="594360" y="4764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1A2B5C"/>
                </a:solidFill>
                <a:latin typeface="Consolas"/>
                <a:ea typeface="Consolas"/>
                <a:cs typeface="Consolas"/>
              </a:rPr>
              <a:t>branchCount → branch_count</a:t>
            </a:r>
            <a:endParaRPr lang="en-US" sz="850"/>
          </a:p>
        </p:txBody>
      </p:sp>
      <p:sp>
        <p:nvSpPr>
          <p:cNvPr id="156778398" name="Text 46"/>
          <p:cNvSpPr/>
          <p:nvPr/>
        </p:nvSpPr>
        <p:spPr bwMode="auto">
          <a:xfrm>
            <a:off x="3886200" y="4764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Number of branches (if/else/for/while decisions) in the code.</a:t>
            </a:r>
            <a:endParaRPr lang="en-US" sz="850"/>
          </a:p>
        </p:txBody>
      </p:sp>
      <p:sp>
        <p:nvSpPr>
          <p:cNvPr id="356656782" name="Text 49"/>
          <p:cNvSpPr/>
          <p:nvPr/>
        </p:nvSpPr>
        <p:spPr bwMode="auto">
          <a:xfrm>
            <a:off x="3886200" y="5020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TARGET: 1 = the module had a bug,  0 = no bug found.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155693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844823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76356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DATA PREPROCESSING — DUPLICATES</a:t>
            </a:r>
            <a:endParaRPr lang="en-US" sz="2800"/>
          </a:p>
        </p:txBody>
      </p:sp>
      <p:sp>
        <p:nvSpPr>
          <p:cNvPr id="500921757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00"/>
          </a:p>
        </p:txBody>
      </p:sp>
      <p:sp>
        <p:nvSpPr>
          <p:cNvPr id="1886729511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Step 1 — check for and remove exact duplicate rows</a:t>
            </a:r>
            <a:endParaRPr lang="en-US" sz="1200"/>
          </a:p>
        </p:txBody>
      </p:sp>
      <p:sp>
        <p:nvSpPr>
          <p:cNvPr id="595506217" name="Shape 5"/>
          <p:cNvSpPr/>
          <p:nvPr/>
        </p:nvSpPr>
        <p:spPr bwMode="auto">
          <a:xfrm>
            <a:off x="502920" y="1280160"/>
            <a:ext cx="3977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042260" name="Shape 6"/>
          <p:cNvSpPr/>
          <p:nvPr/>
        </p:nvSpPr>
        <p:spPr bwMode="auto">
          <a:xfrm>
            <a:off x="502920" y="1280160"/>
            <a:ext cx="3977640" cy="4572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102466" name="Text 7"/>
          <p:cNvSpPr/>
          <p:nvPr/>
        </p:nvSpPr>
        <p:spPr bwMode="auto"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DUPLICATES</a:t>
            </a:r>
            <a:endParaRPr lang="en-US" sz="1300"/>
          </a:p>
        </p:txBody>
      </p:sp>
      <p:sp>
        <p:nvSpPr>
          <p:cNvPr id="1251651044" name="Text 8"/>
          <p:cNvSpPr/>
          <p:nvPr/>
        </p:nvSpPr>
        <p:spPr bwMode="auto">
          <a:xfrm>
            <a:off x="685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df.duplicated().sum()</a:t>
            </a:r>
            <a:endParaRPr lang="en-US" sz="1100"/>
          </a:p>
        </p:txBody>
      </p:sp>
      <p:sp>
        <p:nvSpPr>
          <p:cNvPr id="1115446420" name="Text 9"/>
          <p:cNvSpPr/>
          <p:nvPr/>
        </p:nvSpPr>
        <p:spPr bwMode="auto">
          <a:xfrm>
            <a:off x="68580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4,296</a:t>
            </a:r>
            <a:endParaRPr lang="en-US" sz="3600"/>
          </a:p>
        </p:txBody>
      </p:sp>
      <p:sp>
        <p:nvSpPr>
          <p:cNvPr id="1277279817" name="Text 10"/>
          <p:cNvSpPr/>
          <p:nvPr/>
        </p:nvSpPr>
        <p:spPr bwMode="auto">
          <a:xfrm>
            <a:off x="6858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exact duplicate rows found</a:t>
            </a:r>
            <a:endParaRPr lang="en-US" sz="1100"/>
          </a:p>
        </p:txBody>
      </p:sp>
      <p:sp>
        <p:nvSpPr>
          <p:cNvPr id="1925575823" name="Text 11"/>
          <p:cNvSpPr/>
          <p:nvPr/>
        </p:nvSpPr>
        <p:spPr bwMode="auto">
          <a:xfrm>
            <a:off x="6858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13,204</a:t>
            </a:r>
            <a:r>
              <a:rPr lang="en-US" sz="2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lang="en-US" sz="20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8,908</a:t>
            </a:r>
            <a:r>
              <a:rPr lang="en-US" sz="2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  rows</a:t>
            </a:r>
            <a:endParaRPr lang="en-US" sz="2000"/>
          </a:p>
        </p:txBody>
      </p:sp>
      <p:sp>
        <p:nvSpPr>
          <p:cNvPr id="201694187" name="Text 12"/>
          <p:cNvSpPr/>
          <p:nvPr/>
        </p:nvSpPr>
        <p:spPr bwMode="auto">
          <a:xfrm>
            <a:off x="685800" y="36118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Why remove them? If the same row appears in both training and test sets, the model cheats — it has already 'seen' the answer.</a:t>
            </a:r>
            <a:endParaRPr lang="en-US" sz="1000"/>
          </a:p>
        </p:txBody>
      </p:sp>
      <p:sp>
        <p:nvSpPr>
          <p:cNvPr id="1731177533" name="Shape 13"/>
          <p:cNvSpPr/>
          <p:nvPr/>
        </p:nvSpPr>
        <p:spPr bwMode="auto">
          <a:xfrm>
            <a:off x="4709160" y="1280160"/>
            <a:ext cx="3977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90546" name="Shape 14"/>
          <p:cNvSpPr/>
          <p:nvPr/>
        </p:nvSpPr>
        <p:spPr bwMode="auto">
          <a:xfrm>
            <a:off x="4709160" y="1280160"/>
            <a:ext cx="3977640" cy="4572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331639" name="Text 15"/>
          <p:cNvSpPr/>
          <p:nvPr/>
        </p:nvSpPr>
        <p:spPr bwMode="auto">
          <a:xfrm>
            <a:off x="484632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IS A DUPLICATE?</a:t>
            </a:r>
            <a:endParaRPr lang="en-US" sz="1200"/>
          </a:p>
        </p:txBody>
      </p:sp>
      <p:sp>
        <p:nvSpPr>
          <p:cNvPr id="683872862" name="Text 16"/>
          <p:cNvSpPr/>
          <p:nvPr/>
        </p:nvSpPr>
        <p:spPr bwMode="auto">
          <a:xfrm>
            <a:off x="484632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A duplicate row means that exact same code module (with all the same metric values) was recorded more than once in the dataset.</a:t>
            </a:r>
            <a:endParaRPr lang="en-US" sz="1100"/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11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This happens because the original NASA dataset merged measurements from multiple extraction runs.</a:t>
            </a:r>
            <a:endParaRPr lang="en-US" sz="1100"/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11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We simply drop the extra copies and keep just one version of each unique module.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49480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997539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339397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MISSING VALUES — STEP 1: Adding</a:t>
            </a:r>
            <a:endParaRPr lang="en-US" sz="2800"/>
          </a:p>
        </p:txBody>
      </p:sp>
      <p:sp>
        <p:nvSpPr>
          <p:cNvPr id="2060188170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sp>
        <p:nvSpPr>
          <p:cNvPr id="970372599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We Added missing values in the first two features by the rate of 2%</a:t>
            </a:r>
            <a:endParaRPr lang="en-US" sz="1200"/>
          </a:p>
        </p:txBody>
      </p:sp>
      <p:sp>
        <p:nvSpPr>
          <p:cNvPr id="540361875" name="Text 5"/>
          <p:cNvSpPr/>
          <p:nvPr/>
        </p:nvSpPr>
        <p:spPr bwMode="auto">
          <a:xfrm>
            <a:off x="502920" y="12344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Missing-value heatmap  (df.isnull() — yellow = missing)</a:t>
            </a:r>
            <a:endParaRPr lang="en-US" sz="1100"/>
          </a:p>
        </p:txBody>
      </p:sp>
      <p:pic>
        <p:nvPicPr>
          <p:cNvPr id="1307254978" name="Image 0" descr="/home/claude/pres/nb_imgs/cell10_missing_inject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508759"/>
            <a:ext cx="3657600" cy="3496750"/>
          </a:xfrm>
          <a:prstGeom prst="rect">
            <a:avLst/>
          </a:prstGeom>
        </p:spPr>
      </p:pic>
      <p:sp>
        <p:nvSpPr>
          <p:cNvPr id="1731158399" name="Shape 6"/>
          <p:cNvSpPr/>
          <p:nvPr/>
        </p:nvSpPr>
        <p:spPr bwMode="auto">
          <a:xfrm>
            <a:off x="4434840" y="1234440"/>
            <a:ext cx="4297680" cy="182880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229044" name="Text 7"/>
          <p:cNvSpPr/>
          <p:nvPr/>
        </p:nvSpPr>
        <p:spPr bwMode="auto">
          <a:xfrm>
            <a:off x="457200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What does the heatmap show?</a:t>
            </a:r>
            <a:endParaRPr lang="en-US" sz="1300"/>
          </a:p>
        </p:txBody>
      </p:sp>
      <p:sp>
        <p:nvSpPr>
          <p:cNvPr id="1122121332" name="Text 8"/>
          <p:cNvSpPr/>
          <p:nvPr/>
        </p:nvSpPr>
        <p:spPr bwMode="auto">
          <a:xfrm>
            <a:off x="4572000" y="164592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Each row = one data row. Each column = one feature.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Yellow dot = a missing value at that position.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In the original JM1 data most columns are fine. Missing values were intentionally added to a few key columns to practice the handling step.</a:t>
            </a:r>
            <a:endParaRPr lang="en-US" sz="1100"/>
          </a:p>
        </p:txBody>
      </p:sp>
      <p:sp>
        <p:nvSpPr>
          <p:cNvPr id="925922959" name="Shape 9"/>
          <p:cNvSpPr/>
          <p:nvPr/>
        </p:nvSpPr>
        <p:spPr bwMode="auto">
          <a:xfrm>
            <a:off x="4434840" y="3200400"/>
            <a:ext cx="4297680" cy="14630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27333" name="Text 10"/>
          <p:cNvSpPr/>
          <p:nvPr/>
        </p:nvSpPr>
        <p:spPr bwMode="auto">
          <a:xfrm>
            <a:off x="4572000" y="3291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Check missing values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df.isnull().sum()</a:t>
            </a:r>
            <a:endParaRPr lang="en-US" sz="1000"/>
          </a:p>
        </p:txBody>
      </p:sp>
      <p:sp>
        <p:nvSpPr>
          <p:cNvPr id="601432324" name="Text 11"/>
          <p:cNvSpPr/>
          <p:nvPr/>
        </p:nvSpPr>
        <p:spPr bwMode="auto">
          <a:xfrm>
            <a:off x="4572000" y="3840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F4D7D2"/>
                </a:solidFill>
                <a:latin typeface="Consolas"/>
                <a:ea typeface="Consolas"/>
                <a:cs typeface="Consolas"/>
              </a:rPr>
              <a:t>→  8 columns had missing values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4D7D2"/>
                </a:solidFill>
                <a:latin typeface="Consolas"/>
                <a:ea typeface="Consolas"/>
                <a:cs typeface="Consolas"/>
              </a:rPr>
              <a:t>   (lines_of_code, cyclomatic_complexity,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4D7D2"/>
                </a:solidFill>
                <a:latin typeface="Consolas"/>
                <a:ea typeface="Consolas"/>
                <a:cs typeface="Consolas"/>
              </a:rPr>
              <a:t>    halstead_length, halstead_volume,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4D7D2"/>
                </a:solidFill>
                <a:latin typeface="Consolas"/>
                <a:ea typeface="Consolas"/>
                <a:cs typeface="Consolas"/>
              </a:rPr>
              <a:t>    halstead_difficulty, total_operators,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4D7D2"/>
                </a:solidFill>
                <a:latin typeface="Consolas"/>
                <a:ea typeface="Consolas"/>
                <a:cs typeface="Consolas"/>
              </a:rPr>
              <a:t>    total_operands, branch_count)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64782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07643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759952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MISSING VALUES — STEP 2: HANDLE</a:t>
            </a:r>
            <a:endParaRPr lang="en-US" sz="2800"/>
          </a:p>
        </p:txBody>
      </p:sp>
      <p:sp>
        <p:nvSpPr>
          <p:cNvPr id="322269231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  <p:sp>
        <p:nvSpPr>
          <p:cNvPr id="1397309754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We filled each missing value with the median of its column.</a:t>
            </a:r>
            <a:endParaRPr lang="en-US" sz="1200"/>
          </a:p>
        </p:txBody>
      </p:sp>
      <p:sp>
        <p:nvSpPr>
          <p:cNvPr id="435080408" name="Shape 5"/>
          <p:cNvSpPr/>
          <p:nvPr/>
        </p:nvSpPr>
        <p:spPr bwMode="auto">
          <a:xfrm>
            <a:off x="502920" y="1234440"/>
            <a:ext cx="4937760" cy="219456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633340" name="Text 6"/>
          <p:cNvSpPr/>
          <p:nvPr/>
        </p:nvSpPr>
        <p:spPr bwMode="auto">
          <a:xfrm>
            <a:off x="640080" y="13258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feature_cols = [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'lines_of_code',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'cyclomatic_complexity',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'halstead_length',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'halstead_volume', ...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col in feature_cols: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df[col] = df[col].fillna(</a:t>
            </a:r>
            <a:endParaRPr lang="en-US" sz="1000"/>
          </a:p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df[col].median())</a:t>
            </a:r>
            <a:endParaRPr lang="en-US" sz="1000"/>
          </a:p>
        </p:txBody>
      </p:sp>
      <p:sp>
        <p:nvSpPr>
          <p:cNvPr id="954584204" name="Shape 7"/>
          <p:cNvSpPr/>
          <p:nvPr/>
        </p:nvSpPr>
        <p:spPr bwMode="auto">
          <a:xfrm>
            <a:off x="502920" y="3566160"/>
            <a:ext cx="4937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457692" name="Text 8"/>
          <p:cNvSpPr/>
          <p:nvPr/>
        </p:nvSpPr>
        <p:spPr bwMode="auto">
          <a:xfrm>
            <a:off x="640080" y="36393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After filling →  df.isnull().sum()  shows  0  for every column.</a:t>
            </a:r>
            <a:endParaRPr lang="en-US" sz="1100"/>
          </a:p>
        </p:txBody>
      </p:sp>
      <p:sp>
        <p:nvSpPr>
          <p:cNvPr id="1384642478" name="Text 9"/>
          <p:cNvSpPr/>
          <p:nvPr/>
        </p:nvSpPr>
        <p:spPr bwMode="auto">
          <a:xfrm>
            <a:off x="640080" y="3977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No missing values remain. The dataset is clean and ready for outlier handling.</a:t>
            </a:r>
            <a:endParaRPr lang="en-US" sz="1000"/>
          </a:p>
        </p:txBody>
      </p:sp>
      <p:sp>
        <p:nvSpPr>
          <p:cNvPr id="611902366" name="Shape 10"/>
          <p:cNvSpPr/>
          <p:nvPr/>
        </p:nvSpPr>
        <p:spPr bwMode="auto">
          <a:xfrm>
            <a:off x="5623560" y="1234440"/>
            <a:ext cx="3108960" cy="356616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381167" name="Text 11"/>
          <p:cNvSpPr/>
          <p:nvPr/>
        </p:nvSpPr>
        <p:spPr bwMode="auto">
          <a:xfrm>
            <a:off x="5760720" y="1371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Why use the median?</a:t>
            </a:r>
            <a:endParaRPr lang="en-US" sz="1300"/>
          </a:p>
        </p:txBody>
      </p:sp>
      <p:sp>
        <p:nvSpPr>
          <p:cNvPr id="616374934" name="Text 12"/>
          <p:cNvSpPr/>
          <p:nvPr/>
        </p:nvSpPr>
        <p:spPr bwMode="auto">
          <a:xfrm>
            <a:off x="5760720" y="1737360"/>
            <a:ext cx="2834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Option 1 — delete the row.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Loses data. Not ideal when the dataset is small.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Option 2 — fill with mean.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Can be pulled by extreme values (outliers).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Option 3 — fill with median. ✓</a:t>
            </a:r>
            <a:endParaRPr lang="en-US" sz="10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The middle value is not affected by outliers. Software metrics like lines_of_code are very skewed, so the median is the safer and more honest choice.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05037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10539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510047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OUTLIER DETECTION</a:t>
            </a:r>
            <a:endParaRPr lang="en-US" sz="2800"/>
          </a:p>
        </p:txBody>
      </p:sp>
      <p:sp>
        <p:nvSpPr>
          <p:cNvPr id="548027397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  <p:sp>
        <p:nvSpPr>
          <p:cNvPr id="1850584379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We used the IQR method: any value below Q1 − 1.5×IQR or above Q3 + 1.5×IQR is counted as an outlier.</a:t>
            </a:r>
            <a:endParaRPr lang="en-US" sz="1200"/>
          </a:p>
        </p:txBody>
      </p:sp>
      <p:sp>
        <p:nvSpPr>
          <p:cNvPr id="507499217" name="Shape 5"/>
          <p:cNvSpPr/>
          <p:nvPr/>
        </p:nvSpPr>
        <p:spPr bwMode="auto">
          <a:xfrm>
            <a:off x="365760" y="1234440"/>
            <a:ext cx="4114800" cy="3017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35761934" name="Image 0" descr="/home/claude/pres/nb_imgs/cell13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298448"/>
            <a:ext cx="3931920" cy="1918010"/>
          </a:xfrm>
          <a:prstGeom prst="rect">
            <a:avLst/>
          </a:prstGeom>
        </p:spPr>
      </p:pic>
      <p:sp>
        <p:nvSpPr>
          <p:cNvPr id="1430670682" name="Text 6"/>
          <p:cNvSpPr/>
          <p:nvPr/>
        </p:nvSpPr>
        <p:spPr bwMode="auto">
          <a:xfrm>
            <a:off x="457200" y="3246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Notebook chart — cell 13</a:t>
            </a:r>
            <a:endParaRPr lang="en-US" sz="800"/>
          </a:p>
        </p:txBody>
      </p:sp>
      <p:sp>
        <p:nvSpPr>
          <p:cNvPr id="49281058" name="Text 7"/>
          <p:cNvSpPr/>
          <p:nvPr/>
        </p:nvSpPr>
        <p:spPr bwMode="auto">
          <a:xfrm>
            <a:off x="4663440" y="1234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Top features by outlier count (from IQR analysis)</a:t>
            </a:r>
            <a:endParaRPr lang="en-US" sz="1100"/>
          </a:p>
        </p:txBody>
      </p:sp>
      <p:graphicFrame>
        <p:nvGraphicFramePr>
          <p:cNvPr id="132928097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663440" y="1508759"/>
          <a:ext cx="4069080" cy="3209544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286000"/>
                <a:gridCol w="914400"/>
                <a:gridCol w="868680"/>
              </a:tblGrid>
              <a:tr h="246888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 Outliers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% of Data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halstead_time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1,269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14.25%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halstead_effort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1,269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14.25%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code_comment_lines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1,262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14.17%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comment_lines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1,072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12.03%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essential_complexity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963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10.81%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halstead_volume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936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10.51%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halstead_bugs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912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10.24%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halstead_length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865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9.71%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total_operands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853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9.58%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total_operators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842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9.45%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blank_lines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815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9.15%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5F7FA"/>
                    </a:solidFill>
                  </a:tcPr>
                </a:tc>
              </a:tr>
              <a:tr h="24688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850">
                          <a:solidFill>
                            <a:srgbClr val="1A2B5C"/>
                          </a:solidFill>
                          <a:latin typeface="Consolas"/>
                          <a:ea typeface="Consolas"/>
                          <a:cs typeface="Consolas"/>
                        </a:rPr>
                        <a:t>lines_of_code</a:t>
                      </a:r>
                      <a:endParaRPr lang="en-US" sz="850">
                        <a:latin typeface="Consolas"/>
                        <a:ea typeface="Consolas"/>
                        <a:cs typeface="Consolas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741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8.32%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7723137" name="Shape 8"/>
          <p:cNvSpPr/>
          <p:nvPr/>
        </p:nvSpPr>
        <p:spPr bwMode="auto">
          <a:xfrm>
            <a:off x="365760" y="4480560"/>
            <a:ext cx="8366760" cy="3657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14680" name="Text 9"/>
          <p:cNvSpPr/>
          <p:nvPr/>
        </p:nvSpPr>
        <p:spPr bwMode="auto">
          <a:xfrm>
            <a:off x="548640" y="44805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These are real extreme modules — not errors. Up to 14% outlier rate is high, so we cap (not delete) them on the next slide.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457328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9887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69291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OUTLIER HANDLING</a:t>
            </a:r>
            <a:endParaRPr lang="en-US" sz="2800"/>
          </a:p>
        </p:txBody>
      </p:sp>
      <p:sp>
        <p:nvSpPr>
          <p:cNvPr id="1684210120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  <p:sp>
        <p:nvSpPr>
          <p:cNvPr id="854610554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Conservative quantile capping  —  clip each feature to its [0.5 % , 99.5 %] range</a:t>
            </a:r>
            <a:endParaRPr lang="en-US" sz="1200"/>
          </a:p>
        </p:txBody>
      </p:sp>
      <p:sp>
        <p:nvSpPr>
          <p:cNvPr id="1728329778" name="Text 5"/>
          <p:cNvSpPr/>
          <p:nvPr/>
        </p:nvSpPr>
        <p:spPr bwMode="auto">
          <a:xfrm>
            <a:off x="502920" y="1234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Before vs after capping (notebook cell 15)</a:t>
            </a:r>
            <a:endParaRPr lang="en-US" sz="1100"/>
          </a:p>
        </p:txBody>
      </p:sp>
      <p:pic>
        <p:nvPicPr>
          <p:cNvPr id="1195097619" name="Image 0" descr="/home/claude/pres/nb_imgs/cell15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554480"/>
            <a:ext cx="5166360" cy="2742229"/>
          </a:xfrm>
          <a:prstGeom prst="rect">
            <a:avLst/>
          </a:prstGeom>
        </p:spPr>
      </p:pic>
      <p:sp>
        <p:nvSpPr>
          <p:cNvPr id="1243515300" name="Shape 6"/>
          <p:cNvSpPr/>
          <p:nvPr/>
        </p:nvSpPr>
        <p:spPr bwMode="auto">
          <a:xfrm>
            <a:off x="5852160" y="1234440"/>
            <a:ext cx="2926080" cy="169164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59693" name="Text 7"/>
          <p:cNvSpPr/>
          <p:nvPr/>
        </p:nvSpPr>
        <p:spPr bwMode="auto">
          <a:xfrm>
            <a:off x="5943600" y="1325880"/>
            <a:ext cx="2743200" cy="150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col in feature_cols: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lower = df[col]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.quantile(0.005)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upper = df[col]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.quantile(0.995)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df[col] = df[col]</a:t>
            </a:r>
            <a:endParaRPr lang="en-US" sz="900"/>
          </a:p>
          <a:p>
            <a:pPr marL="0" indent="0">
              <a:buNone/>
              <a:defRPr/>
            </a:pPr>
            <a:r>
              <a:rPr lang="en-US" sz="9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.clip(lower, upper)</a:t>
            </a:r>
            <a:endParaRPr lang="en-US" sz="900"/>
          </a:p>
        </p:txBody>
      </p:sp>
      <p:sp>
        <p:nvSpPr>
          <p:cNvPr id="1675688925" name="Shape 8"/>
          <p:cNvSpPr/>
          <p:nvPr/>
        </p:nvSpPr>
        <p:spPr bwMode="auto">
          <a:xfrm>
            <a:off x="5852160" y="3063240"/>
            <a:ext cx="2926080" cy="155448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598753" name="Text 9"/>
          <p:cNvSpPr/>
          <p:nvPr/>
        </p:nvSpPr>
        <p:spPr bwMode="auto">
          <a:xfrm>
            <a:off x="5989320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Why capping (not dropping)?</a:t>
            </a:r>
            <a:endParaRPr lang="en-US" sz="1100"/>
          </a:p>
        </p:txBody>
      </p:sp>
      <p:sp>
        <p:nvSpPr>
          <p:cNvPr id="1853244301" name="Text 10"/>
          <p:cNvSpPr/>
          <p:nvPr/>
        </p:nvSpPr>
        <p:spPr bwMode="auto">
          <a:xfrm>
            <a:off x="5989320" y="3474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Extreme modules are real and informative. Capping preserves the row, just tames the tail so distance- and gradient-based models stay stable.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74441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490583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388994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CORRELATION</a:t>
            </a:r>
            <a:endParaRPr lang="en-US" sz="2800"/>
          </a:p>
        </p:txBody>
      </p:sp>
      <p:sp>
        <p:nvSpPr>
          <p:cNvPr id="712099527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  <p:sp>
        <p:nvSpPr>
          <p:cNvPr id="577506406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Heatmap of Pearson correlations among the 21 numeric features</a:t>
            </a:r>
            <a:endParaRPr lang="en-US" sz="1200"/>
          </a:p>
        </p:txBody>
      </p:sp>
      <p:sp>
        <p:nvSpPr>
          <p:cNvPr id="877153778" name="Shape 5"/>
          <p:cNvSpPr/>
          <p:nvPr/>
        </p:nvSpPr>
        <p:spPr bwMode="auto">
          <a:xfrm>
            <a:off x="365760" y="1234440"/>
            <a:ext cx="5029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819997" name="Text 6"/>
          <p:cNvSpPr/>
          <p:nvPr/>
        </p:nvSpPr>
        <p:spPr bwMode="auto">
          <a:xfrm>
            <a:off x="457200" y="12984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Correlation heatmap (notebook cell 16)</a:t>
            </a:r>
            <a:endParaRPr lang="en-US" sz="1000"/>
          </a:p>
        </p:txBody>
      </p:sp>
      <p:pic>
        <p:nvPicPr>
          <p:cNvPr id="1940674932" name="Image 0" descr="/home/claude/pres/nb_imgs/cell16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1485900"/>
            <a:ext cx="4754880" cy="3657600"/>
          </a:xfrm>
          <a:prstGeom prst="rect">
            <a:avLst/>
          </a:prstGeom>
        </p:spPr>
      </p:pic>
      <p:sp>
        <p:nvSpPr>
          <p:cNvPr id="1250935550" name="Text 7"/>
          <p:cNvSpPr/>
          <p:nvPr/>
        </p:nvSpPr>
        <p:spPr bwMode="auto">
          <a:xfrm>
            <a:off x="557784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Key takeaways</a:t>
            </a:r>
            <a:endParaRPr lang="en-US" sz="1300"/>
          </a:p>
        </p:txBody>
      </p:sp>
      <p:sp>
        <p:nvSpPr>
          <p:cNvPr id="590700154" name="Text 8"/>
          <p:cNvSpPr/>
          <p:nvPr/>
        </p:nvSpPr>
        <p:spPr bwMode="auto">
          <a:xfrm>
            <a:off x="5577840" y="160020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Halstead family (length, volume, effort, time, bugs) shows r ≈ 0.99 — almost perfectly collinear.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lines_of_code, code_lines and the Halstead block also move together (r ≈ 0.85 – 0.95).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cyclomatic_complexity ↔ branch_count = 0.99 — branchCount is essentially derived.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halstead_level is the only inversely-related feature (r ≈ −0.3 with the rest).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Correlations with the target stay modest (|r| ≤ 0.27) — no single feature is decisive.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749867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767564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4748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FEATURE SELECTION</a:t>
            </a:r>
            <a:endParaRPr lang="en-US" sz="2800"/>
          </a:p>
        </p:txBody>
      </p:sp>
      <p:sp>
        <p:nvSpPr>
          <p:cNvPr id="145111710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  <p:sp>
        <p:nvSpPr>
          <p:cNvPr id="522028394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Random-Forest feature importance, computed on the training split only (no leakage)</a:t>
            </a:r>
            <a:endParaRPr lang="en-US" sz="1200"/>
          </a:p>
        </p:txBody>
      </p:sp>
      <p:graphicFrame>
        <p:nvGraphicFramePr>
          <p:cNvPr id="1993208043" name="Chart 0"/>
          <p:cNvGraphicFramePr>
            <a:graphicFrameLocks xmlns:a="http://schemas.openxmlformats.org/drawingml/2006/main"/>
          </p:cNvGraphicFramePr>
          <p:nvPr/>
        </p:nvGraphicFramePr>
        <p:xfrm rot="0">
          <a:off x="502920" y="123444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8785321" name="Shape 5"/>
          <p:cNvSpPr/>
          <p:nvPr/>
        </p:nvSpPr>
        <p:spPr bwMode="auto">
          <a:xfrm>
            <a:off x="5806440" y="1234440"/>
            <a:ext cx="2926080" cy="14173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2989" name="Text 6"/>
          <p:cNvSpPr/>
          <p:nvPr/>
        </p:nvSpPr>
        <p:spPr bwMode="auto">
          <a:xfrm>
            <a:off x="580644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 / 21</a:t>
            </a:r>
            <a:endParaRPr lang="en-US" sz="4000"/>
          </a:p>
        </p:txBody>
      </p:sp>
      <p:sp>
        <p:nvSpPr>
          <p:cNvPr id="1224163061" name="Text 7"/>
          <p:cNvSpPr/>
          <p:nvPr/>
        </p:nvSpPr>
        <p:spPr bwMode="auto">
          <a:xfrm>
            <a:off x="58064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features kept   (importance &gt; 0.02)</a:t>
            </a:r>
            <a:endParaRPr lang="en-US" sz="1100"/>
          </a:p>
        </p:txBody>
      </p:sp>
      <p:sp>
        <p:nvSpPr>
          <p:cNvPr id="1439643429" name="Text 8"/>
          <p:cNvSpPr/>
          <p:nvPr/>
        </p:nvSpPr>
        <p:spPr bwMode="auto">
          <a:xfrm>
            <a:off x="5806440" y="27889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Decision rule</a:t>
            </a:r>
            <a:endParaRPr lang="en-US" sz="1200"/>
          </a:p>
        </p:txBody>
      </p:sp>
      <p:sp>
        <p:nvSpPr>
          <p:cNvPr id="1511112882" name="Text 9"/>
          <p:cNvSpPr/>
          <p:nvPr/>
        </p:nvSpPr>
        <p:spPr bwMode="auto">
          <a:xfrm>
            <a:off x="5806440" y="310896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selected = importances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             [importances &gt; 0.02]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Only </a:t>
            </a:r>
            <a:r>
              <a:rPr lang="en-US" sz="1000">
                <a:solidFill>
                  <a:srgbClr val="2E8B8B"/>
                </a:solidFill>
                <a:latin typeface="Consolas"/>
                <a:ea typeface="Consolas"/>
                <a:cs typeface="Consolas"/>
              </a:rPr>
              <a:t>code_comment_lines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fell below the cutoff and was dropped.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071428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936637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480123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HANDLING CLASS IMBALANCE</a:t>
            </a:r>
            <a:endParaRPr lang="en-US" sz="2800"/>
          </a:p>
        </p:txBody>
      </p:sp>
      <p:sp>
        <p:nvSpPr>
          <p:cNvPr id="73996219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1734383554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SMOTE — synthesise new minority examples in feature space</a:t>
            </a:r>
            <a:endParaRPr lang="en-US" sz="1200"/>
          </a:p>
        </p:txBody>
      </p:sp>
      <p:sp>
        <p:nvSpPr>
          <p:cNvPr id="196589891" name="Text 5"/>
          <p:cNvSpPr/>
          <p:nvPr/>
        </p:nvSpPr>
        <p:spPr bwMode="auto">
          <a:xfrm>
            <a:off x="50292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Before SMOTE</a:t>
            </a:r>
            <a:endParaRPr lang="en-US" sz="1100"/>
          </a:p>
        </p:txBody>
      </p:sp>
      <p:pic>
        <p:nvPicPr>
          <p:cNvPr id="758545406" name="Image 0" descr="/home/claude/pres/nb_imgs/cell18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508759"/>
            <a:ext cx="2743200" cy="2157984"/>
          </a:xfrm>
          <a:prstGeom prst="rect">
            <a:avLst/>
          </a:prstGeom>
        </p:spPr>
      </p:pic>
      <p:sp>
        <p:nvSpPr>
          <p:cNvPr id="1136986013" name="Text 6"/>
          <p:cNvSpPr/>
          <p:nvPr/>
        </p:nvSpPr>
        <p:spPr bwMode="auto">
          <a:xfrm>
            <a:off x="50292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0: 5,523     1: 1,603</a:t>
            </a:r>
            <a:endParaRPr lang="en-US" sz="1000"/>
          </a:p>
        </p:txBody>
      </p:sp>
      <p:sp>
        <p:nvSpPr>
          <p:cNvPr id="158679026" name="Text 7"/>
          <p:cNvSpPr/>
          <p:nvPr/>
        </p:nvSpPr>
        <p:spPr bwMode="auto">
          <a:xfrm>
            <a:off x="33832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After SMOTE</a:t>
            </a:r>
            <a:endParaRPr lang="en-US" sz="1100"/>
          </a:p>
        </p:txBody>
      </p:sp>
      <p:pic>
        <p:nvPicPr>
          <p:cNvPr id="1037048293" name="Image 1" descr="/home/claude/pres/nb_imgs/cell20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83280" y="1508759"/>
            <a:ext cx="2743200" cy="2157984"/>
          </a:xfrm>
          <a:prstGeom prst="rect">
            <a:avLst/>
          </a:prstGeom>
        </p:spPr>
      </p:pic>
      <p:sp>
        <p:nvSpPr>
          <p:cNvPr id="1798936666" name="Text 8"/>
          <p:cNvSpPr/>
          <p:nvPr/>
        </p:nvSpPr>
        <p:spPr bwMode="auto">
          <a:xfrm>
            <a:off x="33832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0: 5,523     1: 5,523</a:t>
            </a:r>
            <a:endParaRPr lang="en-US" sz="1000"/>
          </a:p>
        </p:txBody>
      </p:sp>
      <p:sp>
        <p:nvSpPr>
          <p:cNvPr id="1308780838" name="Shape 9"/>
          <p:cNvSpPr/>
          <p:nvPr/>
        </p:nvSpPr>
        <p:spPr bwMode="auto">
          <a:xfrm>
            <a:off x="6263640" y="1234440"/>
            <a:ext cx="2468880" cy="329184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314341" name="Text 10"/>
          <p:cNvSpPr/>
          <p:nvPr/>
        </p:nvSpPr>
        <p:spPr bwMode="auto">
          <a:xfrm>
            <a:off x="635508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Why SMOTE?</a:t>
            </a:r>
            <a:endParaRPr lang="en-US" sz="1200"/>
          </a:p>
        </p:txBody>
      </p:sp>
      <p:sp>
        <p:nvSpPr>
          <p:cNvPr id="551324278" name="Text 11"/>
          <p:cNvSpPr/>
          <p:nvPr/>
        </p:nvSpPr>
        <p:spPr bwMode="auto">
          <a:xfrm>
            <a:off x="6355080" y="16916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Training set was </a:t>
            </a: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77 % clean / 23 % defective.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A model could reach 77 % accuracy by predicting ‘clean’ every time — but miss every real bug.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SMOTE interpolates k-nearest defective neighbours to generate plausible synthetic defective modules, restoring a 1 : 1 ratio.</a:t>
            </a:r>
            <a:endParaRPr lang="en-US" sz="10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Applied to TRAIN only — the test set keeps its real-world proportions.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77550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406824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20103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MODELS WE TRAINED</a:t>
            </a:r>
            <a:endParaRPr lang="en-US" sz="2800"/>
          </a:p>
        </p:txBody>
      </p:sp>
      <p:sp>
        <p:nvSpPr>
          <p:cNvPr id="1662467338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  <p:sp>
        <p:nvSpPr>
          <p:cNvPr id="388027692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Six supervised classifiers and one clustering algorithm, all evaluated on the same held-out test split</a:t>
            </a:r>
            <a:endParaRPr lang="en-US" sz="1200"/>
          </a:p>
        </p:txBody>
      </p:sp>
      <p:sp>
        <p:nvSpPr>
          <p:cNvPr id="1760902102" name="Shape 5"/>
          <p:cNvSpPr/>
          <p:nvPr/>
        </p:nvSpPr>
        <p:spPr bwMode="auto">
          <a:xfrm>
            <a:off x="502920" y="12801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738901" name="Shape 6"/>
          <p:cNvSpPr/>
          <p:nvPr/>
        </p:nvSpPr>
        <p:spPr bwMode="auto">
          <a:xfrm>
            <a:off x="502920" y="128016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903968" name="Shape 7"/>
          <p:cNvSpPr/>
          <p:nvPr/>
        </p:nvSpPr>
        <p:spPr bwMode="auto">
          <a:xfrm>
            <a:off x="685800" y="1508759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8047560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5528" y="1618488"/>
            <a:ext cx="411480" cy="411480"/>
          </a:xfrm>
          <a:prstGeom prst="rect">
            <a:avLst/>
          </a:prstGeom>
        </p:spPr>
      </p:pic>
      <p:sp>
        <p:nvSpPr>
          <p:cNvPr id="212601347" name="Text 8"/>
          <p:cNvSpPr/>
          <p:nvPr/>
        </p:nvSpPr>
        <p:spPr bwMode="auto">
          <a:xfrm>
            <a:off x="1417320" y="1508759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Decision Tree</a:t>
            </a:r>
            <a:endParaRPr lang="en-US" sz="1400"/>
          </a:p>
        </p:txBody>
      </p:sp>
      <p:sp>
        <p:nvSpPr>
          <p:cNvPr id="707803046" name="Text 9"/>
          <p:cNvSpPr/>
          <p:nvPr/>
        </p:nvSpPr>
        <p:spPr bwMode="auto">
          <a:xfrm>
            <a:off x="1417320" y="18745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Interpretable rule-based baseline</a:t>
            </a:r>
            <a:endParaRPr lang="en-US" sz="1000"/>
          </a:p>
        </p:txBody>
      </p:sp>
      <p:sp>
        <p:nvSpPr>
          <p:cNvPr id="2080439175" name="Shape 10"/>
          <p:cNvSpPr/>
          <p:nvPr/>
        </p:nvSpPr>
        <p:spPr bwMode="auto">
          <a:xfrm>
            <a:off x="3291840" y="12801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909216" name="Shape 11"/>
          <p:cNvSpPr/>
          <p:nvPr/>
        </p:nvSpPr>
        <p:spPr bwMode="auto">
          <a:xfrm>
            <a:off x="3291840" y="128016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182002" name="Shape 12"/>
          <p:cNvSpPr/>
          <p:nvPr/>
        </p:nvSpPr>
        <p:spPr bwMode="auto">
          <a:xfrm>
            <a:off x="3474720" y="1508759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412105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84448" y="1618488"/>
            <a:ext cx="411480" cy="411480"/>
          </a:xfrm>
          <a:prstGeom prst="rect">
            <a:avLst/>
          </a:prstGeom>
        </p:spPr>
      </p:pic>
      <p:sp>
        <p:nvSpPr>
          <p:cNvPr id="1794939681" name="Text 13"/>
          <p:cNvSpPr/>
          <p:nvPr/>
        </p:nvSpPr>
        <p:spPr bwMode="auto">
          <a:xfrm>
            <a:off x="4206240" y="1508759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Naive Bayes</a:t>
            </a:r>
            <a:endParaRPr lang="en-US" sz="1400"/>
          </a:p>
        </p:txBody>
      </p:sp>
      <p:sp>
        <p:nvSpPr>
          <p:cNvPr id="580907310" name="Text 14"/>
          <p:cNvSpPr/>
          <p:nvPr/>
        </p:nvSpPr>
        <p:spPr bwMode="auto">
          <a:xfrm>
            <a:off x="4206240" y="18745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Fast probabilistic baseline</a:t>
            </a:r>
            <a:endParaRPr lang="en-US" sz="1000"/>
          </a:p>
        </p:txBody>
      </p:sp>
      <p:sp>
        <p:nvSpPr>
          <p:cNvPr id="398215195" name="Shape 15"/>
          <p:cNvSpPr/>
          <p:nvPr/>
        </p:nvSpPr>
        <p:spPr bwMode="auto">
          <a:xfrm>
            <a:off x="6080760" y="128016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013592" name="Shape 16"/>
          <p:cNvSpPr/>
          <p:nvPr/>
        </p:nvSpPr>
        <p:spPr bwMode="auto">
          <a:xfrm>
            <a:off x="6080760" y="128016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60457" name="Shape 17"/>
          <p:cNvSpPr/>
          <p:nvPr/>
        </p:nvSpPr>
        <p:spPr bwMode="auto">
          <a:xfrm>
            <a:off x="6263640" y="1508759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7783294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73368" y="1618488"/>
            <a:ext cx="411480" cy="411480"/>
          </a:xfrm>
          <a:prstGeom prst="rect">
            <a:avLst/>
          </a:prstGeom>
        </p:spPr>
      </p:pic>
      <p:sp>
        <p:nvSpPr>
          <p:cNvPr id="2035227533" name="Text 18"/>
          <p:cNvSpPr/>
          <p:nvPr/>
        </p:nvSpPr>
        <p:spPr bwMode="auto">
          <a:xfrm>
            <a:off x="6995160" y="1508759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Logistic Regression</a:t>
            </a:r>
            <a:endParaRPr lang="en-US" sz="1400"/>
          </a:p>
        </p:txBody>
      </p:sp>
      <p:sp>
        <p:nvSpPr>
          <p:cNvPr id="422996241" name="Text 19"/>
          <p:cNvSpPr/>
          <p:nvPr/>
        </p:nvSpPr>
        <p:spPr bwMode="auto">
          <a:xfrm>
            <a:off x="6995160" y="18745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Linear, well-calibrated probabilities</a:t>
            </a:r>
            <a:endParaRPr lang="en-US" sz="1000"/>
          </a:p>
        </p:txBody>
      </p:sp>
      <p:sp>
        <p:nvSpPr>
          <p:cNvPr id="1375079333" name="Shape 20"/>
          <p:cNvSpPr/>
          <p:nvPr/>
        </p:nvSpPr>
        <p:spPr bwMode="auto">
          <a:xfrm>
            <a:off x="50292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65871" name="Shape 21"/>
          <p:cNvSpPr/>
          <p:nvPr/>
        </p:nvSpPr>
        <p:spPr bwMode="auto">
          <a:xfrm>
            <a:off x="502920" y="292608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067670" name="Shape 22"/>
          <p:cNvSpPr/>
          <p:nvPr/>
        </p:nvSpPr>
        <p:spPr bwMode="auto">
          <a:xfrm>
            <a:off x="685800" y="3154680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4807471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95528" y="3264408"/>
            <a:ext cx="411480" cy="411480"/>
          </a:xfrm>
          <a:prstGeom prst="rect">
            <a:avLst/>
          </a:prstGeom>
        </p:spPr>
      </p:pic>
      <p:sp>
        <p:nvSpPr>
          <p:cNvPr id="841387737" name="Text 23"/>
          <p:cNvSpPr/>
          <p:nvPr/>
        </p:nvSpPr>
        <p:spPr bwMode="auto">
          <a:xfrm>
            <a:off x="141732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Neural Network</a:t>
            </a:r>
            <a:endParaRPr lang="en-US" sz="1400"/>
          </a:p>
        </p:txBody>
      </p:sp>
      <p:sp>
        <p:nvSpPr>
          <p:cNvPr id="92979182" name="Text 24"/>
          <p:cNvSpPr/>
          <p:nvPr/>
        </p:nvSpPr>
        <p:spPr bwMode="auto">
          <a:xfrm>
            <a:off x="141732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MLP — 2 hidden layers (64, 32)</a:t>
            </a:r>
            <a:endParaRPr lang="en-US" sz="1000"/>
          </a:p>
        </p:txBody>
      </p:sp>
      <p:sp>
        <p:nvSpPr>
          <p:cNvPr id="768527143" name="Shape 25"/>
          <p:cNvSpPr/>
          <p:nvPr/>
        </p:nvSpPr>
        <p:spPr bwMode="auto">
          <a:xfrm>
            <a:off x="329184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261909" name="Shape 26"/>
          <p:cNvSpPr/>
          <p:nvPr/>
        </p:nvSpPr>
        <p:spPr bwMode="auto">
          <a:xfrm>
            <a:off x="3291840" y="292608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195282" name="Shape 27"/>
          <p:cNvSpPr/>
          <p:nvPr/>
        </p:nvSpPr>
        <p:spPr bwMode="auto">
          <a:xfrm>
            <a:off x="3474720" y="3154680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714551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584448" y="3264408"/>
            <a:ext cx="411480" cy="411480"/>
          </a:xfrm>
          <a:prstGeom prst="rect">
            <a:avLst/>
          </a:prstGeom>
        </p:spPr>
      </p:pic>
      <p:sp>
        <p:nvSpPr>
          <p:cNvPr id="1184108155" name="Text 28"/>
          <p:cNvSpPr/>
          <p:nvPr/>
        </p:nvSpPr>
        <p:spPr bwMode="auto">
          <a:xfrm>
            <a:off x="420624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1400"/>
          </a:p>
        </p:txBody>
      </p:sp>
      <p:sp>
        <p:nvSpPr>
          <p:cNvPr id="867671002" name="Text 29"/>
          <p:cNvSpPr/>
          <p:nvPr/>
        </p:nvSpPr>
        <p:spPr bwMode="auto">
          <a:xfrm>
            <a:off x="420624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Bagged ensemble of 100 trees</a:t>
            </a:r>
            <a:endParaRPr lang="en-US" sz="1000"/>
          </a:p>
        </p:txBody>
      </p:sp>
      <p:sp>
        <p:nvSpPr>
          <p:cNvPr id="1148999136" name="Shape 30"/>
          <p:cNvSpPr/>
          <p:nvPr/>
        </p:nvSpPr>
        <p:spPr bwMode="auto">
          <a:xfrm>
            <a:off x="6080760" y="292608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215001" name="Shape 31"/>
          <p:cNvSpPr/>
          <p:nvPr/>
        </p:nvSpPr>
        <p:spPr bwMode="auto">
          <a:xfrm>
            <a:off x="6080760" y="2926080"/>
            <a:ext cx="2606040" cy="73152"/>
          </a:xfrm>
          <a:prstGeom prst="rect">
            <a:avLst/>
          </a:prstGeom>
          <a:solidFill>
            <a:srgbClr val="2E8B8B"/>
          </a:solidFill>
          <a:ln w="12700">
            <a:solidFill>
              <a:srgbClr val="2E8B8B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034185" name="Shape 32"/>
          <p:cNvSpPr/>
          <p:nvPr/>
        </p:nvSpPr>
        <p:spPr bwMode="auto">
          <a:xfrm>
            <a:off x="6263640" y="3154680"/>
            <a:ext cx="640080" cy="64008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98499295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373368" y="3264408"/>
            <a:ext cx="411480" cy="411480"/>
          </a:xfrm>
          <a:prstGeom prst="rect">
            <a:avLst/>
          </a:prstGeom>
        </p:spPr>
      </p:pic>
      <p:sp>
        <p:nvSpPr>
          <p:cNvPr id="747237035" name="Text 33"/>
          <p:cNvSpPr/>
          <p:nvPr/>
        </p:nvSpPr>
        <p:spPr bwMode="auto">
          <a:xfrm>
            <a:off x="699516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Gradient Boosting</a:t>
            </a:r>
            <a:endParaRPr lang="en-US" sz="1400"/>
          </a:p>
        </p:txBody>
      </p:sp>
      <p:sp>
        <p:nvSpPr>
          <p:cNvPr id="1375670966" name="Text 34"/>
          <p:cNvSpPr/>
          <p:nvPr/>
        </p:nvSpPr>
        <p:spPr bwMode="auto">
          <a:xfrm>
            <a:off x="699516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Sequential ensemble — usually best on JM1</a:t>
            </a:r>
            <a:endParaRPr lang="en-US" sz="1000"/>
          </a:p>
        </p:txBody>
      </p:sp>
      <p:sp>
        <p:nvSpPr>
          <p:cNvPr id="1949801231" name="Shape 35"/>
          <p:cNvSpPr/>
          <p:nvPr/>
        </p:nvSpPr>
        <p:spPr bwMode="auto">
          <a:xfrm>
            <a:off x="502920" y="4434840"/>
            <a:ext cx="8229600" cy="3657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251885" name="Text 36"/>
          <p:cNvSpPr/>
          <p:nvPr/>
        </p:nvSpPr>
        <p:spPr bwMode="auto">
          <a:xfrm>
            <a:off x="68580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Plus  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K-Means Clustering </a:t>
            </a: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— an unsupervised look at the structure of the feature space.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446299" name="Rectangle 1"/>
          <p:cNvSpPr/>
          <p:nvPr/>
        </p:nvSpPr>
        <p:spPr bwMode="auto">
          <a:xfrm>
            <a:off x="0" y="0"/>
            <a:ext cx="9144000" cy="658368"/>
          </a:xfrm>
          <a:prstGeom prst="rect">
            <a:avLst/>
          </a:prstGeom>
          <a:solidFill>
            <a:srgbClr val="1A2B5C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0126439" name="TextBox 2"/>
          <p:cNvSpPr txBox="1"/>
          <p:nvPr/>
        </p:nvSpPr>
        <p:spPr bwMode="auto">
          <a:xfrm>
            <a:off x="457200" y="9144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DO WE MEASURE A MODEL?</a:t>
            </a:r>
            <a:endParaRPr/>
          </a:p>
        </p:txBody>
      </p:sp>
      <p:sp>
        <p:nvSpPr>
          <p:cNvPr id="1988753668" name="TextBox 3"/>
          <p:cNvSpPr txBox="1"/>
          <p:nvPr/>
        </p:nvSpPr>
        <p:spPr bwMode="auto"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0" i="1">
                <a:solidFill>
                  <a:srgbClr val="8A8A8A"/>
                </a:solidFill>
                <a:latin typeface="Calibri"/>
              </a:rPr>
              <a:t>Accuracy, Precision, Recall and F1-score explained simply</a:t>
            </a:r>
            <a:endParaRPr/>
          </a:p>
        </p:txBody>
      </p:sp>
      <p:sp>
        <p:nvSpPr>
          <p:cNvPr id="896970681" name="Rectangle 4"/>
          <p:cNvSpPr/>
          <p:nvPr/>
        </p:nvSpPr>
        <p:spPr bwMode="auto">
          <a:xfrm>
            <a:off x="457200" y="1097280"/>
            <a:ext cx="3657600" cy="274320"/>
          </a:xfrm>
          <a:prstGeom prst="rect">
            <a:avLst/>
          </a:prstGeom>
          <a:solidFill>
            <a:srgbClr val="1A2B5C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2287030" name="TextBox 5"/>
          <p:cNvSpPr txBox="1"/>
          <p:nvPr/>
        </p:nvSpPr>
        <p:spPr bwMode="auto">
          <a:xfrm>
            <a:off x="548640" y="11064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Confusion Matrix</a:t>
            </a:r>
            <a:endParaRPr/>
          </a:p>
        </p:txBody>
      </p:sp>
      <p:sp>
        <p:nvSpPr>
          <p:cNvPr id="580904729" name="Rectangle 6"/>
          <p:cNvSpPr/>
          <p:nvPr/>
        </p:nvSpPr>
        <p:spPr bwMode="auto">
          <a:xfrm>
            <a:off x="457200" y="1371600"/>
            <a:ext cx="1783080" cy="713232"/>
          </a:xfrm>
          <a:prstGeom prst="rect">
            <a:avLst/>
          </a:prstGeom>
          <a:solidFill>
            <a:srgbClr val="D6E4E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12148988" name="TextBox 7"/>
          <p:cNvSpPr txBox="1"/>
          <p:nvPr/>
        </p:nvSpPr>
        <p:spPr bwMode="auto">
          <a:xfrm>
            <a:off x="521208" y="1483777"/>
            <a:ext cx="165506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1A2B5C"/>
                </a:solidFill>
                <a:latin typeface="Calibri"/>
              </a:rPr>
              <a:t>TRUE NEGATIVE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Predicted: Clean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Actual: Clean</a:t>
            </a:r>
            <a:endParaRPr/>
          </a:p>
        </p:txBody>
      </p:sp>
      <p:sp>
        <p:nvSpPr>
          <p:cNvPr id="482126496" name="Rectangle 8"/>
          <p:cNvSpPr/>
          <p:nvPr/>
        </p:nvSpPr>
        <p:spPr bwMode="auto">
          <a:xfrm>
            <a:off x="2240280" y="1371600"/>
            <a:ext cx="1783080" cy="713232"/>
          </a:xfrm>
          <a:prstGeom prst="rect">
            <a:avLst/>
          </a:prstGeom>
          <a:solidFill>
            <a:srgbClr val="FBE6E3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1573507" name="TextBox 9"/>
          <p:cNvSpPr txBox="1"/>
          <p:nvPr/>
        </p:nvSpPr>
        <p:spPr bwMode="auto">
          <a:xfrm>
            <a:off x="2313432" y="1491973"/>
            <a:ext cx="1655063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1A2B5C"/>
                </a:solidFill>
                <a:latin typeface="Calibri"/>
              </a:rPr>
              <a:t>FALSE POSITIVE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Predicted: </a:t>
            </a:r>
            <a:r>
              <a:rPr lang="en-US" sz="850">
                <a:solidFill>
                  <a:srgbClr val="1A2B5C"/>
                </a:solidFill>
              </a:rPr>
              <a:t>defective 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Actual: Clean</a:t>
            </a:r>
            <a:endParaRPr/>
          </a:p>
        </p:txBody>
      </p:sp>
      <p:sp>
        <p:nvSpPr>
          <p:cNvPr id="892145699" name="Rectangle 10"/>
          <p:cNvSpPr/>
          <p:nvPr/>
        </p:nvSpPr>
        <p:spPr bwMode="auto">
          <a:xfrm>
            <a:off x="457200" y="2084831"/>
            <a:ext cx="1783080" cy="713232"/>
          </a:xfrm>
          <a:prstGeom prst="rect">
            <a:avLst/>
          </a:prstGeom>
          <a:solidFill>
            <a:srgbClr val="FBE6E3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367521" name="TextBox 11"/>
          <p:cNvSpPr txBox="1"/>
          <p:nvPr/>
        </p:nvSpPr>
        <p:spPr bwMode="auto">
          <a:xfrm>
            <a:off x="521208" y="2139696"/>
            <a:ext cx="1655063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1A2B5C"/>
                </a:solidFill>
                <a:latin typeface="Calibri"/>
              </a:rPr>
              <a:t>FALSE NEGATIVE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Predicted: Clean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Actual: </a:t>
            </a:r>
            <a:r>
              <a:rPr lang="en-US" sz="850" b="0" i="0">
                <a:solidFill>
                  <a:srgbClr val="1A2B5C"/>
                </a:solidFill>
                <a:latin typeface="Calibri"/>
              </a:rPr>
              <a:t>defective</a:t>
            </a:r>
            <a:endParaRPr sz="850" b="0" i="0">
              <a:solidFill>
                <a:srgbClr val="1A2B5C"/>
              </a:solidFill>
              <a:latin typeface="Calibri"/>
            </a:endParaRPr>
          </a:p>
        </p:txBody>
      </p:sp>
      <p:sp>
        <p:nvSpPr>
          <p:cNvPr id="1585800601" name="Rectangle 12"/>
          <p:cNvSpPr/>
          <p:nvPr/>
        </p:nvSpPr>
        <p:spPr bwMode="auto">
          <a:xfrm>
            <a:off x="2240280" y="2084831"/>
            <a:ext cx="1783080" cy="713232"/>
          </a:xfrm>
          <a:prstGeom prst="rect">
            <a:avLst/>
          </a:prstGeom>
          <a:solidFill>
            <a:srgbClr val="D6E4E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19421173" name="TextBox 13"/>
          <p:cNvSpPr txBox="1"/>
          <p:nvPr/>
        </p:nvSpPr>
        <p:spPr bwMode="auto">
          <a:xfrm>
            <a:off x="2304288" y="2139696"/>
            <a:ext cx="1655063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50" b="0" i="0">
                <a:solidFill>
                  <a:srgbClr val="1A2B5C"/>
                </a:solidFill>
                <a:latin typeface="Calibri"/>
              </a:rPr>
              <a:t>TRUE POSITIVE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Predicted: </a:t>
            </a:r>
            <a:r>
              <a:rPr lang="en-US" sz="850">
                <a:solidFill>
                  <a:srgbClr val="1A2B5C"/>
                </a:solidFill>
              </a:rPr>
              <a:t>defective </a:t>
            </a:r>
            <a:br>
              <a:rPr sz="850" b="0" i="0">
                <a:solidFill>
                  <a:srgbClr val="1A2B5C"/>
                </a:solidFill>
                <a:latin typeface="Calibri"/>
              </a:rPr>
            </a:br>
            <a:r>
              <a:rPr sz="850" b="0" i="0">
                <a:solidFill>
                  <a:srgbClr val="1A2B5C"/>
                </a:solidFill>
                <a:latin typeface="Calibri"/>
              </a:rPr>
              <a:t>Actual: </a:t>
            </a:r>
            <a:r>
              <a:rPr lang="en-US" sz="850">
                <a:solidFill>
                  <a:srgbClr val="1A2B5C"/>
                </a:solidFill>
              </a:rPr>
              <a:t>defective</a:t>
            </a:r>
            <a:endParaRPr sz="850" b="0" i="0">
              <a:solidFill>
                <a:srgbClr val="1A2B5C"/>
              </a:solidFill>
              <a:latin typeface="Calibri"/>
            </a:endParaRPr>
          </a:p>
        </p:txBody>
      </p:sp>
      <p:sp>
        <p:nvSpPr>
          <p:cNvPr id="322086313" name="TextBox 14"/>
          <p:cNvSpPr txBox="1"/>
          <p:nvPr/>
        </p:nvSpPr>
        <p:spPr bwMode="auto">
          <a:xfrm>
            <a:off x="521208" y="1364203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8A8A8A"/>
                </a:solidFill>
                <a:latin typeface="Calibri"/>
              </a:rPr>
              <a:t>Predicted Clean</a:t>
            </a:r>
            <a:endParaRPr/>
          </a:p>
        </p:txBody>
      </p:sp>
      <p:sp>
        <p:nvSpPr>
          <p:cNvPr id="1385302073" name="TextBox 15"/>
          <p:cNvSpPr txBox="1"/>
          <p:nvPr/>
        </p:nvSpPr>
        <p:spPr bwMode="auto">
          <a:xfrm>
            <a:off x="2285999" y="1338563"/>
            <a:ext cx="164592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8A8A8A"/>
                </a:solidFill>
                <a:latin typeface="Calibri"/>
              </a:rPr>
              <a:t>Predicted </a:t>
            </a:r>
            <a:r>
              <a:rPr lang="en-US" sz="800">
                <a:solidFill>
                  <a:srgbClr val="1A2B5C"/>
                </a:solidFill>
              </a:rPr>
              <a:t>defective</a:t>
            </a:r>
            <a:endParaRPr sz="800" b="1" i="0">
              <a:solidFill>
                <a:srgbClr val="8A8A8A"/>
              </a:solidFill>
              <a:latin typeface="Calibri"/>
            </a:endParaRPr>
          </a:p>
        </p:txBody>
      </p:sp>
      <p:sp>
        <p:nvSpPr>
          <p:cNvPr id="1429924815" name="Rectangle 16"/>
          <p:cNvSpPr/>
          <p:nvPr/>
        </p:nvSpPr>
        <p:spPr bwMode="auto">
          <a:xfrm>
            <a:off x="4251960" y="1097280"/>
            <a:ext cx="4480560" cy="347472"/>
          </a:xfrm>
          <a:prstGeom prst="rect">
            <a:avLst/>
          </a:prstGeom>
          <a:solidFill>
            <a:srgbClr val="1A2B5C"/>
          </a:solidFill>
          <a:ln w="6350">
            <a:solidFill>
              <a:srgbClr val="1A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2450687" name="TextBox 17"/>
          <p:cNvSpPr txBox="1"/>
          <p:nvPr/>
        </p:nvSpPr>
        <p:spPr bwMode="auto">
          <a:xfrm>
            <a:off x="4343400" y="11338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  <a:endParaRPr/>
          </a:p>
        </p:txBody>
      </p:sp>
      <p:sp>
        <p:nvSpPr>
          <p:cNvPr id="320012306" name="Rectangle 18"/>
          <p:cNvSpPr/>
          <p:nvPr/>
        </p:nvSpPr>
        <p:spPr bwMode="auto">
          <a:xfrm>
            <a:off x="4251960" y="1444752"/>
            <a:ext cx="4480560" cy="585216"/>
          </a:xfrm>
          <a:prstGeom prst="rect">
            <a:avLst/>
          </a:prstGeom>
          <a:solidFill>
            <a:srgbClr val="F0F4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7212661" name="TextBox 19"/>
          <p:cNvSpPr txBox="1"/>
          <p:nvPr/>
        </p:nvSpPr>
        <p:spPr bwMode="auto">
          <a:xfrm>
            <a:off x="4370832" y="1463040"/>
            <a:ext cx="4251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00">
                <a:solidFill>
                  <a:srgbClr val="4A4A4A"/>
                </a:solidFill>
              </a:rPr>
              <a:t>The </a:t>
            </a:r>
            <a:r>
              <a:rPr lang="en-US" sz="900">
                <a:solidFill>
                  <a:srgbClr val="4A4A4A"/>
                </a:solidFill>
              </a:rPr>
              <a:t>precentage</a:t>
            </a:r>
            <a:r>
              <a:rPr sz="900" b="0" i="0">
                <a:solidFill>
                  <a:srgbClr val="4A4A4A"/>
                </a:solidFill>
                <a:latin typeface="Calibri"/>
              </a:rPr>
              <a:t> of ALL predictions that were correct.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= (TP+TN) / Total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Warning: can be misleading with imbalanced data.</a:t>
            </a:r>
            <a:endParaRPr/>
          </a:p>
        </p:txBody>
      </p:sp>
      <p:sp>
        <p:nvSpPr>
          <p:cNvPr id="2113513198" name="Rectangle 20"/>
          <p:cNvSpPr/>
          <p:nvPr/>
        </p:nvSpPr>
        <p:spPr bwMode="auto">
          <a:xfrm>
            <a:off x="4251960" y="2075688"/>
            <a:ext cx="4480560" cy="347472"/>
          </a:xfrm>
          <a:prstGeom prst="rect">
            <a:avLst/>
          </a:prstGeom>
          <a:solidFill>
            <a:srgbClr val="2E8B8B"/>
          </a:solidFill>
          <a:ln w="6350">
            <a:solidFill>
              <a:srgbClr val="2E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7826248" name="TextBox 21"/>
          <p:cNvSpPr txBox="1"/>
          <p:nvPr/>
        </p:nvSpPr>
        <p:spPr bwMode="auto">
          <a:xfrm>
            <a:off x="4343400" y="21122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  <a:endParaRPr/>
          </a:p>
        </p:txBody>
      </p:sp>
      <p:sp>
        <p:nvSpPr>
          <p:cNvPr id="757788147" name="Rectangle 22"/>
          <p:cNvSpPr/>
          <p:nvPr/>
        </p:nvSpPr>
        <p:spPr bwMode="auto">
          <a:xfrm>
            <a:off x="4251960" y="2423160"/>
            <a:ext cx="4480560" cy="585216"/>
          </a:xfrm>
          <a:prstGeom prst="rect">
            <a:avLst/>
          </a:prstGeom>
          <a:solidFill>
            <a:srgbClr val="F0F4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6762390" name="TextBox 23"/>
          <p:cNvSpPr txBox="1"/>
          <p:nvPr/>
        </p:nvSpPr>
        <p:spPr bwMode="auto">
          <a:xfrm>
            <a:off x="4370832" y="2441448"/>
            <a:ext cx="4251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4A4A4A"/>
                </a:solidFill>
                <a:latin typeface="Calibri"/>
              </a:rPr>
              <a:t>Of everything flagged as </a:t>
            </a:r>
            <a:r>
              <a:rPr lang="en-US" sz="900">
                <a:solidFill>
                  <a:srgbClr val="1A2B5C"/>
                </a:solidFill>
              </a:rPr>
              <a:t>defective</a:t>
            </a:r>
            <a:r>
              <a:rPr sz="900" b="0" i="0">
                <a:solidFill>
                  <a:srgbClr val="4A4A4A"/>
                </a:solidFill>
                <a:latin typeface="Calibri"/>
              </a:rPr>
              <a:t>, how many really were?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= TP / (TP + FP)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High = few false alarms.</a:t>
            </a:r>
            <a:endParaRPr/>
          </a:p>
        </p:txBody>
      </p:sp>
      <p:sp>
        <p:nvSpPr>
          <p:cNvPr id="1455491176" name="Rectangle 24"/>
          <p:cNvSpPr/>
          <p:nvPr/>
        </p:nvSpPr>
        <p:spPr bwMode="auto">
          <a:xfrm>
            <a:off x="4251960" y="3054096"/>
            <a:ext cx="4480560" cy="347472"/>
          </a:xfrm>
          <a:prstGeom prst="rect">
            <a:avLst/>
          </a:prstGeom>
          <a:solidFill>
            <a:srgbClr val="B85042"/>
          </a:solidFill>
          <a:ln w="6350"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5080012" name="TextBox 25"/>
          <p:cNvSpPr txBox="1"/>
          <p:nvPr/>
        </p:nvSpPr>
        <p:spPr bwMode="auto">
          <a:xfrm>
            <a:off x="4343400" y="30906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  <a:endParaRPr/>
          </a:p>
        </p:txBody>
      </p:sp>
      <p:sp>
        <p:nvSpPr>
          <p:cNvPr id="703783108" name="Rectangle 26"/>
          <p:cNvSpPr/>
          <p:nvPr/>
        </p:nvSpPr>
        <p:spPr bwMode="auto">
          <a:xfrm>
            <a:off x="4251960" y="3401568"/>
            <a:ext cx="4480560" cy="585216"/>
          </a:xfrm>
          <a:prstGeom prst="rect">
            <a:avLst/>
          </a:prstGeom>
          <a:solidFill>
            <a:srgbClr val="F0F4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3854231" name="TextBox 27"/>
          <p:cNvSpPr txBox="1"/>
          <p:nvPr/>
        </p:nvSpPr>
        <p:spPr bwMode="auto">
          <a:xfrm>
            <a:off x="4370832" y="3419856"/>
            <a:ext cx="4251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4A4A4A"/>
                </a:solidFill>
                <a:latin typeface="Calibri"/>
              </a:rPr>
              <a:t>Of all REAL </a:t>
            </a:r>
            <a:r>
              <a:rPr lang="en-US" sz="900">
                <a:solidFill>
                  <a:srgbClr val="1A2B5C"/>
                </a:solidFill>
              </a:rPr>
              <a:t>defects</a:t>
            </a:r>
            <a:r>
              <a:rPr sz="900" b="0" i="0">
                <a:solidFill>
                  <a:srgbClr val="4A4A4A"/>
                </a:solidFill>
                <a:latin typeface="Calibri"/>
              </a:rPr>
              <a:t>, how many did we catch?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= TP / (TP + FN)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High = few missed bugs.  Most important for QA!</a:t>
            </a:r>
            <a:endParaRPr/>
          </a:p>
        </p:txBody>
      </p:sp>
      <p:sp>
        <p:nvSpPr>
          <p:cNvPr id="1439988009" name="Rectangle 28"/>
          <p:cNvSpPr/>
          <p:nvPr/>
        </p:nvSpPr>
        <p:spPr bwMode="auto">
          <a:xfrm>
            <a:off x="4251960" y="4032504"/>
            <a:ext cx="4480560" cy="347472"/>
          </a:xfrm>
          <a:prstGeom prst="rect">
            <a:avLst/>
          </a:prstGeom>
          <a:solidFill>
            <a:srgbClr val="7B5CA0"/>
          </a:solidFill>
          <a:ln w="6350">
            <a:solidFill>
              <a:srgbClr val="7B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5947334" name="TextBox 29"/>
          <p:cNvSpPr txBox="1"/>
          <p:nvPr/>
        </p:nvSpPr>
        <p:spPr bwMode="auto">
          <a:xfrm>
            <a:off x="4343400" y="4069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F1-SCORE</a:t>
            </a:r>
            <a:endParaRPr/>
          </a:p>
        </p:txBody>
      </p:sp>
      <p:sp>
        <p:nvSpPr>
          <p:cNvPr id="2012594491" name="Rectangle 30"/>
          <p:cNvSpPr/>
          <p:nvPr/>
        </p:nvSpPr>
        <p:spPr bwMode="auto">
          <a:xfrm>
            <a:off x="4251960" y="4379976"/>
            <a:ext cx="4480560" cy="585216"/>
          </a:xfrm>
          <a:prstGeom prst="rect">
            <a:avLst/>
          </a:prstGeom>
          <a:solidFill>
            <a:srgbClr val="F0F4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793001" name="TextBox 31"/>
          <p:cNvSpPr txBox="1"/>
          <p:nvPr/>
        </p:nvSpPr>
        <p:spPr bwMode="auto">
          <a:xfrm>
            <a:off x="4370832" y="4398264"/>
            <a:ext cx="42519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4A4A4A"/>
                </a:solidFill>
                <a:latin typeface="Calibri"/>
              </a:rPr>
              <a:t>Balances Precision and Recall into one score.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= 2 x (Precision x Recall) / (P + R)</a:t>
            </a:r>
            <a:br>
              <a:rPr sz="900" b="0" i="0">
                <a:solidFill>
                  <a:srgbClr val="4A4A4A"/>
                </a:solidFill>
                <a:latin typeface="Calibri"/>
              </a:rPr>
            </a:br>
            <a:r>
              <a:rPr sz="900" b="0" i="0">
                <a:solidFill>
                  <a:srgbClr val="4A4A4A"/>
                </a:solidFill>
                <a:latin typeface="Calibri"/>
              </a:rPr>
              <a:t>Use when both false alarms and missed </a:t>
            </a:r>
            <a:r>
              <a:rPr lang="en-US" sz="900">
                <a:solidFill>
                  <a:srgbClr val="1A2B5C"/>
                </a:solidFill>
              </a:rPr>
              <a:t>defects</a:t>
            </a:r>
            <a:r>
              <a:rPr sz="900" b="0" i="0">
                <a:solidFill>
                  <a:srgbClr val="4A4A4A"/>
                </a:solidFill>
                <a:latin typeface="Calibri"/>
              </a:rPr>
              <a:t> matter.</a:t>
            </a:r>
            <a:endParaRPr/>
          </a:p>
        </p:txBody>
      </p:sp>
      <p:sp>
        <p:nvSpPr>
          <p:cNvPr id="1143140322" name="TextBox 33"/>
          <p:cNvSpPr txBox="1"/>
          <p:nvPr/>
        </p:nvSpPr>
        <p:spPr bwMode="auto">
          <a:xfrm>
            <a:off x="381784" y="2929083"/>
            <a:ext cx="380842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50" b="0" i="0">
                <a:solidFill>
                  <a:srgbClr val="F4D7D2"/>
                </a:solidFill>
                <a:latin typeface="Calibri"/>
              </a:rPr>
              <a:t>In this project, Recall matters most — missing a real bug is usually more costly than a false alarm.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97681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6151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662851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DECISION TREE</a:t>
            </a:r>
            <a:endParaRPr lang="en-US" sz="2800"/>
          </a:p>
        </p:txBody>
      </p:sp>
      <p:sp>
        <p:nvSpPr>
          <p:cNvPr id="157182363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000"/>
          </a:p>
        </p:txBody>
      </p:sp>
      <p:sp>
        <p:nvSpPr>
          <p:cNvPr id="312178141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DecisionTreeClassifier(max_depth=5, random_state=42)   —   trained on SMOTE-balanced data</a:t>
            </a:r>
            <a:endParaRPr lang="en-US" sz="1200"/>
          </a:p>
        </p:txBody>
      </p:sp>
      <p:sp>
        <p:nvSpPr>
          <p:cNvPr id="1231673363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835050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249306858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733187748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72.7%</a:t>
            </a:r>
            <a:endParaRPr lang="en-US" sz="4600"/>
          </a:p>
        </p:txBody>
      </p:sp>
      <p:sp>
        <p:nvSpPr>
          <p:cNvPr id="999027979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18439351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32209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 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Builds a tree of yes/no questions on your features. Splits the data step by step, choosing the feature that best separates clean from buggy modules. Easy to visualise and explain.</a:t>
            </a:r>
            <a:endParaRPr lang="en-US" sz="1000"/>
          </a:p>
        </p:txBody>
      </p:sp>
      <p:sp>
        <p:nvSpPr>
          <p:cNvPr id="424582757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127820840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41%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48%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86395768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675829392" name="Image 1" descr="/home/claude/pres/nb_imgs/cell22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286668040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611568794" name="Text 14"/>
          <p:cNvSpPr/>
          <p:nvPr/>
        </p:nvSpPr>
        <p:spPr bwMode="auto">
          <a:xfrm>
            <a:off x="2788920" y="3009714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Splits early on lines_of_code and Halstead volume; few-leaf rules stay interpretable.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Limited depth keeps it from over-fitting but caps the F1 of the minority class at ~0.44.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11810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751620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146097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NAIVE BAYES</a:t>
            </a:r>
            <a:endParaRPr lang="en-US" sz="2800"/>
          </a:p>
        </p:txBody>
      </p:sp>
      <p:sp>
        <p:nvSpPr>
          <p:cNvPr id="1483222056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000"/>
          </a:p>
        </p:txBody>
      </p:sp>
      <p:sp>
        <p:nvSpPr>
          <p:cNvPr id="850355837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GaussianNB()   —   probabilistic baseline assuming feature independence</a:t>
            </a:r>
            <a:endParaRPr lang="en-US" sz="1200"/>
          </a:p>
        </p:txBody>
      </p:sp>
      <p:sp>
        <p:nvSpPr>
          <p:cNvPr id="1775578886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515762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1992870206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1034587908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75.9%</a:t>
            </a:r>
            <a:endParaRPr lang="en-US" sz="4600"/>
          </a:p>
        </p:txBody>
      </p:sp>
      <p:sp>
        <p:nvSpPr>
          <p:cNvPr id="1722409035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2096349664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681830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Assumes each feature is independent and uses probability theory (Bayes theorem) to decide. Very fast but unreliable when features are correlated — which they are here.</a:t>
            </a:r>
            <a:endParaRPr lang="en-US" sz="1000"/>
          </a:p>
        </p:txBody>
      </p:sp>
      <p:sp>
        <p:nvSpPr>
          <p:cNvPr id="1793548710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88517418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92%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85%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43%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29%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13403855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1151725104" name="Image 1" descr="/home/claude/pres/nb_imgs/cell25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1274445451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207242413" name="Text 14"/>
          <p:cNvSpPr/>
          <p:nvPr/>
        </p:nvSpPr>
        <p:spPr bwMode="auto">
          <a:xfrm>
            <a:off x="2788920" y="299466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High overall accuracy is misleading — it comes from predicting the majority class.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Recall on defect = 22 %: 314 of 401 real defects are missed (false negatives).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53021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538855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333511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LOGISTIC REGRESSION</a:t>
            </a:r>
            <a:endParaRPr lang="en-US" sz="2800"/>
          </a:p>
        </p:txBody>
      </p:sp>
      <p:sp>
        <p:nvSpPr>
          <p:cNvPr id="67533605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000"/>
          </a:p>
        </p:txBody>
      </p:sp>
      <p:sp>
        <p:nvSpPr>
          <p:cNvPr id="356544350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LogisticRegression(max_iter=1000)   —   features standard-scaled inside the pipeline</a:t>
            </a:r>
            <a:endParaRPr lang="en-US" sz="1200"/>
          </a:p>
        </p:txBody>
      </p:sp>
      <p:sp>
        <p:nvSpPr>
          <p:cNvPr id="747287347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6786497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1128077496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662049185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71.3%</a:t>
            </a:r>
            <a:endParaRPr lang="en-US" sz="4600"/>
          </a:p>
        </p:txBody>
      </p:sp>
      <p:sp>
        <p:nvSpPr>
          <p:cNvPr id="1683321432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15103320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871453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Draws a straight line (or hyperplane) to separate clean from buggy modules. Works well when the relationship is simple and linear, but struggles with complex curved boundaries.</a:t>
            </a:r>
            <a:endParaRPr lang="en-US" sz="1000"/>
          </a:p>
        </p:txBody>
      </p:sp>
      <p:sp>
        <p:nvSpPr>
          <p:cNvPr id="449378573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199047170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78%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81%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39%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50%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09015573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79675611" name="Image 1" descr="/home/claude/pres/nb_imgs/cell32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1707154387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301288719" name="Text 14"/>
          <p:cNvSpPr/>
          <p:nvPr/>
        </p:nvSpPr>
        <p:spPr bwMode="auto">
          <a:xfrm>
            <a:off x="2788920" y="338328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Roughly balanced recall on both classes — defect recall = 50 %.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Linear decision boundary is too rigid for non-linear interactions 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812807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145295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032351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NEURAL NETWORK</a:t>
            </a:r>
            <a:endParaRPr lang="en-US" sz="2800"/>
          </a:p>
        </p:txBody>
      </p:sp>
      <p:sp>
        <p:nvSpPr>
          <p:cNvPr id="1091741227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000"/>
          </a:p>
        </p:txBody>
      </p:sp>
      <p:sp>
        <p:nvSpPr>
          <p:cNvPr id="139710916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MLPClassifier(hidden_layer_sizes=(64, 32), activation='relu', max_iter=500)</a:t>
            </a:r>
            <a:endParaRPr lang="en-US" sz="1200"/>
          </a:p>
        </p:txBody>
      </p:sp>
      <p:sp>
        <p:nvSpPr>
          <p:cNvPr id="1850230069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4032620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1079054518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2131508949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68.9%</a:t>
            </a:r>
            <a:endParaRPr lang="en-US" sz="4600"/>
          </a:p>
        </p:txBody>
      </p:sp>
      <p:sp>
        <p:nvSpPr>
          <p:cNvPr id="1824049191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745607953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26798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 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A network of layers that learns patterns by adjusting weights through training. Two hidden layers here (64 then 32 neurons). Powerful in theory, but needs a lot of data to shine.</a:t>
            </a:r>
            <a:endParaRPr lang="en-US" sz="1000"/>
          </a:p>
        </p:txBody>
      </p:sp>
      <p:sp>
        <p:nvSpPr>
          <p:cNvPr id="791765962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36498922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83%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76%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79%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35%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45%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39%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89726361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1899921670" name="Image 1" descr="/home/claude/pres/nb_imgs/cell27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41318842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341409030" name="Text 14"/>
          <p:cNvSpPr/>
          <p:nvPr/>
        </p:nvSpPr>
        <p:spPr bwMode="auto">
          <a:xfrm>
            <a:off x="2788920" y="338328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Capable in principle of capturing non-linear interactions — but JM1 is small for an MLP, so it underperforms.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Class-1 recall (45 %) is decent but precision drops to 35 %, producing many false alarms.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22296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67214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45438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2800"/>
          </a:p>
        </p:txBody>
      </p:sp>
      <p:sp>
        <p:nvSpPr>
          <p:cNvPr id="412975953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17</a:t>
            </a:r>
            <a:endParaRPr lang="en-US" sz="1000"/>
          </a:p>
        </p:txBody>
      </p:sp>
      <p:sp>
        <p:nvSpPr>
          <p:cNvPr id="2064966071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RandomForestClassifier(n_estimators=100, random_state=42)   —   bagged ensemble of decision trees</a:t>
            </a:r>
            <a:endParaRPr lang="en-US" sz="1200"/>
          </a:p>
        </p:txBody>
      </p:sp>
      <p:sp>
        <p:nvSpPr>
          <p:cNvPr id="959377326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6830767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28531642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1124904739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75.5%</a:t>
            </a:r>
            <a:endParaRPr lang="en-US" sz="4600"/>
          </a:p>
        </p:txBody>
      </p:sp>
      <p:sp>
        <p:nvSpPr>
          <p:cNvPr id="1749511116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1735144733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177260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 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Builds 100 decision trees on random subsets of data and features, then takes a majority vote. Each tree sees slightly different data, so errors cancel out — much stabler than a single tree.</a:t>
            </a:r>
            <a:endParaRPr lang="en-US" sz="1000"/>
          </a:p>
        </p:txBody>
      </p:sp>
      <p:sp>
        <p:nvSpPr>
          <p:cNvPr id="1228903908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2048972258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82%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87%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85%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35%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39%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76286448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1235931521" name="Image 1" descr="/home/claude/pres/nb_imgs/cell34_out0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395351248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1606128530" name="Text 14"/>
          <p:cNvSpPr/>
          <p:nvPr/>
        </p:nvSpPr>
        <p:spPr bwMode="auto">
          <a:xfrm>
            <a:off x="2788920" y="338328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Best precision-class-1 of the un-tuned models (44 %).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Native feature-importance scores guided our feature-selection step.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080760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5436283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671753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GRADIENT BOOSTING</a:t>
            </a:r>
            <a:endParaRPr lang="en-US" sz="2800"/>
          </a:p>
        </p:txBody>
      </p:sp>
      <p:sp>
        <p:nvSpPr>
          <p:cNvPr id="1333407449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18</a:t>
            </a:r>
            <a:endParaRPr lang="en-US" sz="1000"/>
          </a:p>
        </p:txBody>
      </p:sp>
      <p:sp>
        <p:nvSpPr>
          <p:cNvPr id="1407851508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GradientBoostingClassifier(n_estimators=300, max_depth=4, lr=0.05)   —   threshold tuned to 0.291</a:t>
            </a:r>
            <a:endParaRPr lang="en-US" sz="1200"/>
          </a:p>
        </p:txBody>
      </p:sp>
      <p:sp>
        <p:nvSpPr>
          <p:cNvPr id="1767598789" name="Shape 5"/>
          <p:cNvSpPr/>
          <p:nvPr/>
        </p:nvSpPr>
        <p:spPr bwMode="auto">
          <a:xfrm>
            <a:off x="502920" y="1234440"/>
            <a:ext cx="2377440" cy="164592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1389926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629094345" name="Text 6"/>
          <p:cNvSpPr/>
          <p:nvPr/>
        </p:nvSpPr>
        <p:spPr bwMode="auto">
          <a:xfrm>
            <a:off x="502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ACCURACY</a:t>
            </a:r>
            <a:endParaRPr lang="en-US" sz="1000"/>
          </a:p>
        </p:txBody>
      </p:sp>
      <p:sp>
        <p:nvSpPr>
          <p:cNvPr id="1143699581" name="Text 7"/>
          <p:cNvSpPr/>
          <p:nvPr/>
        </p:nvSpPr>
        <p:spPr bwMode="auto">
          <a:xfrm>
            <a:off x="50292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65.2%</a:t>
            </a:r>
            <a:endParaRPr lang="en-US" sz="4600"/>
          </a:p>
        </p:txBody>
      </p:sp>
      <p:sp>
        <p:nvSpPr>
          <p:cNvPr id="1359527228" name="Text 8"/>
          <p:cNvSpPr/>
          <p:nvPr/>
        </p:nvSpPr>
        <p:spPr bwMode="auto">
          <a:xfrm>
            <a:off x="502920" y="2514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on the held-out test set</a:t>
            </a:r>
            <a:endParaRPr lang="en-US" sz="1000"/>
          </a:p>
        </p:txBody>
      </p:sp>
      <p:sp>
        <p:nvSpPr>
          <p:cNvPr id="1938855878" name="Shape 9"/>
          <p:cNvSpPr/>
          <p:nvPr/>
        </p:nvSpPr>
        <p:spPr bwMode="auto">
          <a:xfrm>
            <a:off x="3063240" y="1234440"/>
            <a:ext cx="5669280" cy="502920"/>
          </a:xfrm>
          <a:prstGeom prst="rect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147093" name="Text 10"/>
          <p:cNvSpPr/>
          <p:nvPr/>
        </p:nvSpPr>
        <p:spPr bwMode="auto">
          <a:xfrm>
            <a:off x="315468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How it works: </a:t>
            </a: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Builds trees one at a time, where each new tree focuses on fixing the mistakes of the previous ones. Slower to train but typically the most accurate. Threshold was tuned to 0.291 to catch more bugs.</a:t>
            </a:r>
            <a:endParaRPr lang="en-US" sz="1000"/>
          </a:p>
        </p:txBody>
      </p:sp>
      <p:sp>
        <p:nvSpPr>
          <p:cNvPr id="491369785" name="Text 11"/>
          <p:cNvSpPr/>
          <p:nvPr/>
        </p:nvSpPr>
        <p:spPr bwMode="auto">
          <a:xfrm>
            <a:off x="306324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Classification report</a:t>
            </a:r>
            <a:endParaRPr lang="en-US" sz="1200"/>
          </a:p>
        </p:txBody>
      </p:sp>
      <p:graphicFrame>
        <p:nvGraphicFramePr>
          <p:cNvPr id="81423173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3063240" y="2148840"/>
          <a:ext cx="5669280" cy="960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1097280"/>
                <a:gridCol w="1005840"/>
                <a:gridCol w="1097280"/>
                <a:gridCol w="1097280"/>
              </a:tblGrid>
              <a:tr h="320040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Class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F1-score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Support</a:t>
                      </a:r>
                      <a:endParaRPr lang="en-US"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0  (clean)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87%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64%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74%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1381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2E8B8B"/>
                          </a:solidFill>
                          <a:latin typeface="Calibri"/>
                          <a:ea typeface="Calibri"/>
                          <a:cs typeface="Calibri"/>
                        </a:rPr>
                        <a:t>1  (defect)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36%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68%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4A4A4A"/>
                          </a:solidFill>
                          <a:latin typeface="Calibri"/>
                          <a:ea typeface="Calibri"/>
                          <a:cs typeface="Calibri"/>
                        </a:rPr>
                        <a:t>47%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8A8A8A"/>
                          </a:solidFill>
                          <a:latin typeface="Calibri"/>
                          <a:ea typeface="Calibri"/>
                          <a:cs typeface="Calibri"/>
                        </a:rPr>
                        <a:t>401</a:t>
                      </a:r>
                      <a:endParaRPr lang="en-US"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19183372" name="Text 12"/>
          <p:cNvSpPr/>
          <p:nvPr/>
        </p:nvSpPr>
        <p:spPr bwMode="auto">
          <a:xfrm>
            <a:off x="5029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Confusion matrix (notebook)</a:t>
            </a:r>
            <a:endParaRPr lang="en-US" sz="1100"/>
          </a:p>
        </p:txBody>
      </p:sp>
      <p:pic>
        <p:nvPicPr>
          <p:cNvPr id="218044821" name="Image 1" descr="/home/claude/pres/nb_imgs/cell35_out1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2920" y="3383280"/>
            <a:ext cx="2103120" cy="1595690"/>
          </a:xfrm>
          <a:prstGeom prst="rect">
            <a:avLst/>
          </a:prstGeom>
        </p:spPr>
      </p:pic>
      <p:sp>
        <p:nvSpPr>
          <p:cNvPr id="232261615" name="Text 13"/>
          <p:cNvSpPr/>
          <p:nvPr/>
        </p:nvSpPr>
        <p:spPr bwMode="auto">
          <a:xfrm>
            <a:off x="2788920" y="3108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Observations</a:t>
            </a:r>
            <a:endParaRPr lang="en-US" sz="1100"/>
          </a:p>
        </p:txBody>
      </p:sp>
      <p:sp>
        <p:nvSpPr>
          <p:cNvPr id="10550530" name="Text 14"/>
          <p:cNvSpPr/>
          <p:nvPr/>
        </p:nvSpPr>
        <p:spPr bwMode="auto">
          <a:xfrm>
            <a:off x="2788920" y="3383280"/>
            <a:ext cx="5943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Recall on the defective class jumps to 68 % — only 129 real defects missed.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Threshold lowered to 0.291 to prioritise catching bugs at the cost of more false alarms.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Best F1-score on class 1 across all six models (0.47).</a:t>
            </a:r>
            <a:endParaRPr lang="en-US" sz="11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• Right choice when missing a defect is more costly than running extra tests.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24634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13979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974026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MODEL COMPARISON</a:t>
            </a:r>
            <a:endParaRPr lang="en-US" sz="2800"/>
          </a:p>
        </p:txBody>
      </p:sp>
      <p:sp>
        <p:nvSpPr>
          <p:cNvPr id="257036937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20</a:t>
            </a:r>
            <a:endParaRPr lang="en-US" sz="1000"/>
          </a:p>
        </p:txBody>
      </p:sp>
      <p:sp>
        <p:nvSpPr>
          <p:cNvPr id="614783250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Final evaluation with F1-optimised thresholds — sorted by F1-score of the defective class</a:t>
            </a:r>
            <a:endParaRPr lang="en-US" sz="1200"/>
          </a:p>
        </p:txBody>
      </p:sp>
      <p:sp>
        <p:nvSpPr>
          <p:cNvPr id="537879030" name="Shape 5"/>
          <p:cNvSpPr/>
          <p:nvPr/>
        </p:nvSpPr>
        <p:spPr bwMode="auto">
          <a:xfrm>
            <a:off x="502920" y="1234440"/>
            <a:ext cx="5669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8059767" name="Image 0" descr="/home/claude/pres/nb_imgs/cell37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280160"/>
            <a:ext cx="5577840" cy="3409438"/>
          </a:xfrm>
          <a:prstGeom prst="rect">
            <a:avLst/>
          </a:prstGeom>
        </p:spPr>
      </p:pic>
      <p:sp>
        <p:nvSpPr>
          <p:cNvPr id="179156586" name="Text 6"/>
          <p:cNvSpPr/>
          <p:nvPr/>
        </p:nvSpPr>
        <p:spPr bwMode="auto">
          <a:xfrm>
            <a:off x="502920" y="46634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Notebook output — cell 37</a:t>
            </a:r>
            <a:endParaRPr lang="en-US" sz="900"/>
          </a:p>
        </p:txBody>
      </p:sp>
      <p:sp>
        <p:nvSpPr>
          <p:cNvPr id="1561280151" name="Text 7"/>
          <p:cNvSpPr/>
          <p:nvPr/>
        </p:nvSpPr>
        <p:spPr bwMode="auto">
          <a:xfrm>
            <a:off x="64008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Ranked by F1 (defect class)</a:t>
            </a:r>
            <a:endParaRPr lang="en-US" sz="1100"/>
          </a:p>
        </p:txBody>
      </p:sp>
      <p:sp>
        <p:nvSpPr>
          <p:cNvPr id="296802754" name="Shape 8"/>
          <p:cNvSpPr/>
          <p:nvPr/>
        </p:nvSpPr>
        <p:spPr bwMode="auto">
          <a:xfrm>
            <a:off x="6400800" y="1554480"/>
            <a:ext cx="2377440" cy="384048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842973" name="Text 9"/>
          <p:cNvSpPr/>
          <p:nvPr/>
        </p:nvSpPr>
        <p:spPr bwMode="auto">
          <a:xfrm>
            <a:off x="6446520" y="1554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1.</a:t>
            </a:r>
            <a:endParaRPr lang="en-US" sz="1100"/>
          </a:p>
        </p:txBody>
      </p:sp>
      <p:sp>
        <p:nvSpPr>
          <p:cNvPr id="184548076" name="Text 10"/>
          <p:cNvSpPr/>
          <p:nvPr/>
        </p:nvSpPr>
        <p:spPr bwMode="auto">
          <a:xfrm>
            <a:off x="6766560" y="1554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Gradient Boosting</a:t>
            </a:r>
            <a:endParaRPr lang="en-US" sz="1000"/>
          </a:p>
        </p:txBody>
      </p:sp>
      <p:sp>
        <p:nvSpPr>
          <p:cNvPr id="741323332" name="Text 11"/>
          <p:cNvSpPr/>
          <p:nvPr/>
        </p:nvSpPr>
        <p:spPr bwMode="auto">
          <a:xfrm>
            <a:off x="8138160" y="15544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0.481</a:t>
            </a:r>
            <a:endParaRPr lang="en-US" sz="1100"/>
          </a:p>
        </p:txBody>
      </p:sp>
      <p:sp>
        <p:nvSpPr>
          <p:cNvPr id="1002566447" name="Shape 12"/>
          <p:cNvSpPr/>
          <p:nvPr/>
        </p:nvSpPr>
        <p:spPr bwMode="auto">
          <a:xfrm>
            <a:off x="6400800" y="1975104"/>
            <a:ext cx="23774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073527" name="Text 13"/>
          <p:cNvSpPr/>
          <p:nvPr/>
        </p:nvSpPr>
        <p:spPr bwMode="auto">
          <a:xfrm>
            <a:off x="6446520" y="19751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2.</a:t>
            </a:r>
            <a:endParaRPr lang="en-US" sz="1100"/>
          </a:p>
        </p:txBody>
      </p:sp>
      <p:sp>
        <p:nvSpPr>
          <p:cNvPr id="1393063402" name="Text 14"/>
          <p:cNvSpPr/>
          <p:nvPr/>
        </p:nvSpPr>
        <p:spPr bwMode="auto">
          <a:xfrm>
            <a:off x="676656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Random Forest</a:t>
            </a:r>
            <a:endParaRPr lang="en-US" sz="1000"/>
          </a:p>
        </p:txBody>
      </p:sp>
      <p:sp>
        <p:nvSpPr>
          <p:cNvPr id="1648512719" name="Text 15"/>
          <p:cNvSpPr/>
          <p:nvPr/>
        </p:nvSpPr>
        <p:spPr bwMode="auto">
          <a:xfrm>
            <a:off x="8138160" y="197510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0.468</a:t>
            </a:r>
            <a:endParaRPr lang="en-US" sz="1100"/>
          </a:p>
        </p:txBody>
      </p:sp>
      <p:sp>
        <p:nvSpPr>
          <p:cNvPr id="1237139047" name="Shape 16"/>
          <p:cNvSpPr/>
          <p:nvPr/>
        </p:nvSpPr>
        <p:spPr bwMode="auto">
          <a:xfrm>
            <a:off x="6400800" y="2395728"/>
            <a:ext cx="23774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5098336" name="Text 17"/>
          <p:cNvSpPr/>
          <p:nvPr/>
        </p:nvSpPr>
        <p:spPr bwMode="auto">
          <a:xfrm>
            <a:off x="6446520" y="23957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3.</a:t>
            </a:r>
            <a:endParaRPr lang="en-US" sz="1100"/>
          </a:p>
        </p:txBody>
      </p:sp>
      <p:sp>
        <p:nvSpPr>
          <p:cNvPr id="1194572185" name="Text 18"/>
          <p:cNvSpPr/>
          <p:nvPr/>
        </p:nvSpPr>
        <p:spPr bwMode="auto">
          <a:xfrm>
            <a:off x="6766560" y="2395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Neural Network</a:t>
            </a:r>
            <a:endParaRPr lang="en-US" sz="1000"/>
          </a:p>
        </p:txBody>
      </p:sp>
      <p:sp>
        <p:nvSpPr>
          <p:cNvPr id="2005333744" name="Text 19"/>
          <p:cNvSpPr/>
          <p:nvPr/>
        </p:nvSpPr>
        <p:spPr bwMode="auto">
          <a:xfrm>
            <a:off x="8138160" y="239572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0.465</a:t>
            </a:r>
            <a:endParaRPr lang="en-US" sz="1100"/>
          </a:p>
        </p:txBody>
      </p:sp>
      <p:sp>
        <p:nvSpPr>
          <p:cNvPr id="1914270222" name="Shape 20"/>
          <p:cNvSpPr/>
          <p:nvPr/>
        </p:nvSpPr>
        <p:spPr bwMode="auto">
          <a:xfrm>
            <a:off x="6400800" y="2816352"/>
            <a:ext cx="23774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330793" name="Text 21"/>
          <p:cNvSpPr/>
          <p:nvPr/>
        </p:nvSpPr>
        <p:spPr bwMode="auto">
          <a:xfrm>
            <a:off x="6446520" y="28163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4.</a:t>
            </a:r>
            <a:endParaRPr lang="en-US" sz="1100"/>
          </a:p>
        </p:txBody>
      </p:sp>
      <p:sp>
        <p:nvSpPr>
          <p:cNvPr id="409262810" name="Text 22"/>
          <p:cNvSpPr/>
          <p:nvPr/>
        </p:nvSpPr>
        <p:spPr bwMode="auto">
          <a:xfrm>
            <a:off x="6766560" y="2816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Logistic Reg.</a:t>
            </a:r>
            <a:endParaRPr lang="en-US" sz="1000"/>
          </a:p>
        </p:txBody>
      </p:sp>
      <p:sp>
        <p:nvSpPr>
          <p:cNvPr id="1765789805" name="Text 23"/>
          <p:cNvSpPr/>
          <p:nvPr/>
        </p:nvSpPr>
        <p:spPr bwMode="auto">
          <a:xfrm>
            <a:off x="8138160" y="281635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0.464</a:t>
            </a:r>
            <a:endParaRPr lang="en-US" sz="1100"/>
          </a:p>
        </p:txBody>
      </p:sp>
      <p:sp>
        <p:nvSpPr>
          <p:cNvPr id="734228734" name="Shape 24"/>
          <p:cNvSpPr/>
          <p:nvPr/>
        </p:nvSpPr>
        <p:spPr bwMode="auto">
          <a:xfrm>
            <a:off x="6400800" y="3236976"/>
            <a:ext cx="23774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1883751" name="Text 25"/>
          <p:cNvSpPr/>
          <p:nvPr/>
        </p:nvSpPr>
        <p:spPr bwMode="auto">
          <a:xfrm>
            <a:off x="6446520" y="323697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5.</a:t>
            </a:r>
            <a:endParaRPr lang="en-US" sz="1100"/>
          </a:p>
        </p:txBody>
      </p:sp>
      <p:sp>
        <p:nvSpPr>
          <p:cNvPr id="424186709" name="Text 26"/>
          <p:cNvSpPr/>
          <p:nvPr/>
        </p:nvSpPr>
        <p:spPr bwMode="auto">
          <a:xfrm>
            <a:off x="6766560" y="32369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Naive Bayes</a:t>
            </a:r>
            <a:endParaRPr lang="en-US" sz="1000"/>
          </a:p>
        </p:txBody>
      </p:sp>
      <p:sp>
        <p:nvSpPr>
          <p:cNvPr id="780289283" name="Text 27"/>
          <p:cNvSpPr/>
          <p:nvPr/>
        </p:nvSpPr>
        <p:spPr bwMode="auto">
          <a:xfrm>
            <a:off x="8138160" y="323697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0.440</a:t>
            </a:r>
            <a:endParaRPr lang="en-US" sz="1100"/>
          </a:p>
        </p:txBody>
      </p:sp>
      <p:sp>
        <p:nvSpPr>
          <p:cNvPr id="213173047" name="Shape 28"/>
          <p:cNvSpPr/>
          <p:nvPr/>
        </p:nvSpPr>
        <p:spPr bwMode="auto">
          <a:xfrm>
            <a:off x="6400800" y="3657600"/>
            <a:ext cx="23774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549817" name="Text 29"/>
          <p:cNvSpPr/>
          <p:nvPr/>
        </p:nvSpPr>
        <p:spPr bwMode="auto">
          <a:xfrm>
            <a:off x="6446520" y="365760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6.</a:t>
            </a:r>
            <a:endParaRPr lang="en-US" sz="1100"/>
          </a:p>
        </p:txBody>
      </p:sp>
      <p:sp>
        <p:nvSpPr>
          <p:cNvPr id="165765296" name="Text 30"/>
          <p:cNvSpPr/>
          <p:nvPr/>
        </p:nvSpPr>
        <p:spPr bwMode="auto">
          <a:xfrm>
            <a:off x="67665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Decision Tree</a:t>
            </a:r>
            <a:endParaRPr lang="en-US" sz="1000"/>
          </a:p>
        </p:txBody>
      </p:sp>
      <p:sp>
        <p:nvSpPr>
          <p:cNvPr id="1264833688" name="Text 31"/>
          <p:cNvSpPr/>
          <p:nvPr/>
        </p:nvSpPr>
        <p:spPr bwMode="auto">
          <a:xfrm>
            <a:off x="8138160" y="365760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2E8B8B"/>
                </a:solidFill>
                <a:latin typeface="Calibri"/>
                <a:ea typeface="Calibri"/>
                <a:cs typeface="Calibri"/>
              </a:rPr>
              <a:t>0.420</a:t>
            </a:r>
            <a:endParaRPr lang="en-US" sz="1100"/>
          </a:p>
        </p:txBody>
      </p:sp>
      <p:sp>
        <p:nvSpPr>
          <p:cNvPr id="1949667123" name="Shape 32"/>
          <p:cNvSpPr/>
          <p:nvPr/>
        </p:nvSpPr>
        <p:spPr bwMode="auto">
          <a:xfrm>
            <a:off x="502920" y="4617720"/>
            <a:ext cx="8229600" cy="36576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76983" name="Text 33"/>
          <p:cNvSpPr/>
          <p:nvPr/>
        </p:nvSpPr>
        <p:spPr bwMode="auto">
          <a:xfrm>
            <a:off x="68580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Winner:  </a:t>
            </a: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Gradient Boosting </a:t>
            </a:r>
            <a:r>
              <a:rPr lang="en-US" sz="1100">
                <a:solidFill>
                  <a:srgbClr val="F4D7D2"/>
                </a:solidFill>
                <a:latin typeface="Calibri"/>
                <a:ea typeface="Calibri"/>
                <a:cs typeface="Calibri"/>
              </a:rPr>
              <a:t>(F1 = 0.48, recall = 69 %) — best at catching real defects while keeping false alarms manageable.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95407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15503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K-MEANS CLUSTERING</a:t>
            </a:r>
            <a:endParaRPr lang="en-US" sz="2800"/>
          </a:p>
        </p:txBody>
      </p:sp>
      <p:sp>
        <p:nvSpPr>
          <p:cNvPr id="541988060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1000"/>
          </a:p>
        </p:txBody>
      </p:sp>
      <p:sp>
        <p:nvSpPr>
          <p:cNvPr id="1644864389" name="Text 4"/>
          <p:cNvSpPr/>
          <p:nvPr/>
        </p:nvSpPr>
        <p:spPr bwMode="auto">
          <a:xfrm>
            <a:off x="50292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Unsupervised structure check — KMeans(n_clusters=2) on standard-scaled features</a:t>
            </a:r>
            <a:endParaRPr lang="en-US" sz="1200"/>
          </a:p>
        </p:txBody>
      </p:sp>
      <p:sp>
        <p:nvSpPr>
          <p:cNvPr id="2107669376" name="Text 5"/>
          <p:cNvSpPr/>
          <p:nvPr/>
        </p:nvSpPr>
        <p:spPr bwMode="auto">
          <a:xfrm>
            <a:off x="502920" y="1234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Cluster scatter (cell 29)</a:t>
            </a:r>
            <a:endParaRPr lang="en-US" sz="1100"/>
          </a:p>
        </p:txBody>
      </p:sp>
      <p:pic>
        <p:nvPicPr>
          <p:cNvPr id="1788652732" name="Image 0" descr="/home/claude/pres/nb_imgs/cell29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02920" y="1508759"/>
            <a:ext cx="4114800" cy="3281339"/>
          </a:xfrm>
          <a:prstGeom prst="rect">
            <a:avLst/>
          </a:prstGeom>
        </p:spPr>
      </p:pic>
      <p:sp>
        <p:nvSpPr>
          <p:cNvPr id="112002991" name="Text 6"/>
          <p:cNvSpPr/>
          <p:nvPr/>
        </p:nvSpPr>
        <p:spPr bwMode="auto">
          <a:xfrm>
            <a:off x="484632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83858239" name="Text 9"/>
          <p:cNvSpPr/>
          <p:nvPr/>
        </p:nvSpPr>
        <p:spPr bwMode="auto">
          <a:xfrm>
            <a:off x="484632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0.71</a:t>
            </a:r>
            <a:endParaRPr lang="en-US" sz="2400"/>
          </a:p>
        </p:txBody>
      </p:sp>
      <p:sp>
        <p:nvSpPr>
          <p:cNvPr id="517526919" name="Text 10"/>
          <p:cNvSpPr/>
          <p:nvPr/>
        </p:nvSpPr>
        <p:spPr bwMode="auto">
          <a:xfrm>
            <a:off x="640080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Cluster ↔ defect</a:t>
            </a:r>
            <a:endParaRPr lang="en-US" sz="900"/>
          </a:p>
        </p:txBody>
      </p:sp>
      <p:graphicFrame>
        <p:nvGraphicFramePr>
          <p:cNvPr id="36658342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0" y="4315968"/>
          <a:ext cx="2286000" cy="7315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640080"/>
                <a:gridCol w="822960"/>
                <a:gridCol w="822960"/>
              </a:tblGrid>
              <a:tr h="16459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Def=0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Def=1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16459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 0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6,600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D6E4E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1,716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BE6E3"/>
                    </a:solidFill>
                  </a:tcPr>
                </a:tc>
              </a:tr>
              <a:tr h="164592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 1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304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BE6E3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288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D6E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97251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613884" name="Text 2"/>
          <p:cNvSpPr/>
          <p:nvPr/>
        </p:nvSpPr>
        <p:spPr bwMode="auto">
          <a:xfrm>
            <a:off x="485480" y="218779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K-MEANS CLUSTERING</a:t>
            </a:r>
            <a:endParaRPr lang="en-US" sz="2800"/>
          </a:p>
        </p:txBody>
      </p:sp>
      <p:sp>
        <p:nvSpPr>
          <p:cNvPr id="1494208071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19</a:t>
            </a:r>
            <a:endParaRPr lang="en-US" sz="1000"/>
          </a:p>
        </p:txBody>
      </p:sp>
      <p:sp>
        <p:nvSpPr>
          <p:cNvPr id="657481577" name="Text 4"/>
          <p:cNvSpPr/>
          <p:nvPr/>
        </p:nvSpPr>
        <p:spPr bwMode="auto">
          <a:xfrm>
            <a:off x="411480" y="801709"/>
            <a:ext cx="70130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1200" b="1"/>
              <a:t>K-Means was used to see if the code modules naturally split into groups based on their features, without using the defect label.</a:t>
            </a:r>
            <a:endParaRPr lang="en-US" sz="1200"/>
          </a:p>
        </p:txBody>
      </p:sp>
      <p:sp>
        <p:nvSpPr>
          <p:cNvPr id="1690247636" name="Text 5"/>
          <p:cNvSpPr/>
          <p:nvPr/>
        </p:nvSpPr>
        <p:spPr bwMode="auto">
          <a:xfrm>
            <a:off x="502920" y="12344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Cluster scatter (cell 29)</a:t>
            </a:r>
            <a:endParaRPr lang="en-US" sz="1100"/>
          </a:p>
        </p:txBody>
      </p:sp>
      <p:pic>
        <p:nvPicPr>
          <p:cNvPr id="1302628615" name="Image 0" descr="/home/claude/pres/nb_imgs/cell29_out0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5480" y="1436962"/>
            <a:ext cx="4114800" cy="3281339"/>
          </a:xfrm>
          <a:prstGeom prst="rect">
            <a:avLst/>
          </a:prstGeom>
        </p:spPr>
      </p:pic>
      <p:sp>
        <p:nvSpPr>
          <p:cNvPr id="907347273" name="Text 9"/>
          <p:cNvSpPr/>
          <p:nvPr/>
        </p:nvSpPr>
        <p:spPr bwMode="auto">
          <a:xfrm>
            <a:off x="484632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0.71</a:t>
            </a:r>
            <a:endParaRPr lang="en-US" sz="2400"/>
          </a:p>
        </p:txBody>
      </p:sp>
      <p:sp>
        <p:nvSpPr>
          <p:cNvPr id="1199596406" name="Text 10"/>
          <p:cNvSpPr/>
          <p:nvPr/>
        </p:nvSpPr>
        <p:spPr bwMode="auto">
          <a:xfrm>
            <a:off x="5532120" y="104012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Cluster ↔ defect</a:t>
            </a:r>
            <a:endParaRPr lang="en-US" sz="900"/>
          </a:p>
        </p:txBody>
      </p:sp>
      <p:graphicFrame>
        <p:nvGraphicFramePr>
          <p:cNvPr id="102277415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386040" y="1284970"/>
          <a:ext cx="3090003" cy="8915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65201"/>
                <a:gridCol w="1112401"/>
                <a:gridCol w="1112401"/>
              </a:tblGrid>
              <a:tr h="33432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Def=0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Def=1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</a:tr>
              <a:tr h="27860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 0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6,600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D6E4E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1,716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BE6E3"/>
                    </a:solidFill>
                  </a:tcPr>
                </a:tc>
              </a:tr>
              <a:tr h="278606"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 1</a:t>
                      </a:r>
                      <a:endParaRPr lang="en-US" sz="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1A2B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304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FBE6E3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1A2B5C"/>
                          </a:solidFill>
                          <a:latin typeface="Calibri"/>
                          <a:ea typeface="Calibri"/>
                          <a:cs typeface="Calibri"/>
                        </a:rPr>
                        <a:t>288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E5E5E5"/>
                      </a:solidFill>
                    </a:lnL>
                    <a:lnR w="6350" algn="ctr">
                      <a:solidFill>
                        <a:srgbClr val="E5E5E5"/>
                      </a:solidFill>
                    </a:lnR>
                    <a:lnT w="6350" algn="ctr">
                      <a:solidFill>
                        <a:srgbClr val="E5E5E5"/>
                      </a:solidFill>
                    </a:lnT>
                    <a:lnB w="6350" algn="ctr">
                      <a:solidFill>
                        <a:srgbClr val="E5E5E5"/>
                      </a:solidFill>
                    </a:lnB>
                    <a:solidFill>
                      <a:srgbClr val="D6E4E5"/>
                    </a:solidFill>
                  </a:tcPr>
                </a:tc>
              </a:tr>
            </a:tbl>
          </a:graphicData>
        </a:graphic>
      </p:graphicFrame>
      <p:sp>
        <p:nvSpPr>
          <p:cNvPr id="1857179791" name="Rectangle 1"/>
          <p:cNvSpPr>
            <a:spLocks noChangeArrowheads="1"/>
          </p:cNvSpPr>
          <p:nvPr/>
        </p:nvSpPr>
        <p:spPr bwMode="auto">
          <a:xfrm>
            <a:off x="4846320" y="2211986"/>
            <a:ext cx="4452280" cy="280076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/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2pPr>
            <a:lvl3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3pPr>
            <a:lvl4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4pPr>
            <a:lvl5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For </a:t>
            </a:r>
            <a:r>
              <a:rPr sz="1600" b="1" i="0" u="none" strike="noStrike" cap="none">
                <a:ln>
                  <a:noFill/>
                </a:ln>
                <a:latin typeface="Arial"/>
              </a:rPr>
              <a:t>Cluster 0</a:t>
            </a:r>
            <a:r>
              <a:rPr sz="1600" b="0" i="0" u="none" strike="noStrike" cap="none">
                <a:ln>
                  <a:noFill/>
                </a:ln>
                <a:latin typeface="Arial"/>
              </a:rPr>
              <a:t>: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It has many clean samples and some buggy samples.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Defect rate: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 Unicode MS"/>
              </a:rPr>
              <a:t>1716 / (6600 + 1716) ≈ 20.6%</a:t>
            </a:r>
            <a:endParaRPr sz="1600" b="0" i="0" u="none" strike="noStrike" cap="none">
              <a:ln>
                <a:noFill/>
              </a:ln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So Cluster 0 is mostly clean.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For </a:t>
            </a:r>
            <a:r>
              <a:rPr sz="1600" b="1" i="0" u="none" strike="noStrike" cap="none">
                <a:ln>
                  <a:noFill/>
                </a:ln>
                <a:latin typeface="Arial"/>
              </a:rPr>
              <a:t>Cluster 1</a:t>
            </a:r>
            <a:r>
              <a:rPr sz="1600" b="0" i="0" u="none" strike="noStrike" cap="none">
                <a:ln>
                  <a:noFill/>
                </a:ln>
                <a:latin typeface="Arial"/>
              </a:rPr>
              <a:t>: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It has 304 clean and 288 buggy samples.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Defect rate:a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 Unicode MS"/>
              </a:rPr>
              <a:t>288 / (304 + 288) ≈ 48.6%</a:t>
            </a:r>
            <a:endParaRPr sz="1600" b="0" i="0" u="none" strike="noStrike" cap="none">
              <a:ln>
                <a:noFill/>
              </a:ln>
            </a:endParaRPr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b="0" i="0" u="none" strike="noStrike" cap="none">
                <a:ln>
                  <a:noFill/>
                </a:ln>
                <a:latin typeface="Arial"/>
              </a:rPr>
              <a:t>So Cluster 1 has a much higher bug rate.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23631" name="Shape 0"/>
          <p:cNvSpPr/>
          <p:nvPr/>
        </p:nvSpPr>
        <p:spPr bwMode="auto">
          <a:xfrm>
            <a:off x="8229600" y="-1097280"/>
            <a:ext cx="2194560" cy="21945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578322" name="Shape 1"/>
          <p:cNvSpPr/>
          <p:nvPr/>
        </p:nvSpPr>
        <p:spPr bwMode="auto">
          <a:xfrm>
            <a:off x="-228600" y="-228600"/>
            <a:ext cx="640080" cy="64008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784852" name="Text 2"/>
          <p:cNvSpPr/>
          <p:nvPr/>
        </p:nvSpPr>
        <p:spPr bwMode="auto">
          <a:xfrm>
            <a:off x="45720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2800"/>
          </a:p>
        </p:txBody>
      </p:sp>
      <p:sp>
        <p:nvSpPr>
          <p:cNvPr id="1819723671" name="Text 3"/>
          <p:cNvSpPr/>
          <p:nvPr/>
        </p:nvSpPr>
        <p:spPr bwMode="auto"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21</a:t>
            </a:r>
            <a:endParaRPr lang="en-US" sz="1000"/>
          </a:p>
        </p:txBody>
      </p:sp>
      <p:sp>
        <p:nvSpPr>
          <p:cNvPr id="939325373" name="Shape 4"/>
          <p:cNvSpPr/>
          <p:nvPr/>
        </p:nvSpPr>
        <p:spPr bwMode="auto">
          <a:xfrm>
            <a:off x="502920" y="1005840"/>
            <a:ext cx="457200" cy="4572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99570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4360" y="1097280"/>
            <a:ext cx="274320" cy="274320"/>
          </a:xfrm>
          <a:prstGeom prst="rect">
            <a:avLst/>
          </a:prstGeom>
        </p:spPr>
      </p:pic>
      <p:sp>
        <p:nvSpPr>
          <p:cNvPr id="1789325969" name="Text 5"/>
          <p:cNvSpPr/>
          <p:nvPr/>
        </p:nvSpPr>
        <p:spPr bwMode="auto">
          <a:xfrm>
            <a:off x="1097280" y="987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What worked</a:t>
            </a:r>
            <a:endParaRPr lang="en-US" sz="1400"/>
          </a:p>
        </p:txBody>
      </p:sp>
      <p:sp>
        <p:nvSpPr>
          <p:cNvPr id="1279717795" name="Text 6"/>
          <p:cNvSpPr/>
          <p:nvPr/>
        </p:nvSpPr>
        <p:spPr bwMode="auto">
          <a:xfrm>
            <a:off x="1097280" y="1280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Careful preprocessing — duplicate removal (4,296 → 0), median imputation, quantile capping — gave a clean, leakage-free 8,908-row table. SMOTE successfully rebalanced training data from 77/23 % to 50/50 %.</a:t>
            </a:r>
            <a:endParaRPr lang="en-US" sz="1100"/>
          </a:p>
        </p:txBody>
      </p:sp>
      <p:sp>
        <p:nvSpPr>
          <p:cNvPr id="2124073069" name="Shape 7"/>
          <p:cNvSpPr/>
          <p:nvPr/>
        </p:nvSpPr>
        <p:spPr bwMode="auto">
          <a:xfrm>
            <a:off x="502920" y="1920240"/>
            <a:ext cx="457200" cy="4572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8207533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806314565" name="Text 8"/>
          <p:cNvSpPr/>
          <p:nvPr/>
        </p:nvSpPr>
        <p:spPr bwMode="auto">
          <a:xfrm>
            <a:off x="1097280" y="19019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Best model</a:t>
            </a:r>
            <a:endParaRPr lang="en-US" sz="1400"/>
          </a:p>
        </p:txBody>
      </p:sp>
      <p:sp>
        <p:nvSpPr>
          <p:cNvPr id="794075210" name="Text 9"/>
          <p:cNvSpPr/>
          <p:nvPr/>
        </p:nvSpPr>
        <p:spPr bwMode="auto">
          <a:xfrm>
            <a:off x="1097280" y="2194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Gradient Boosting with a tuned threshold of 0.291 reached F1 = 0.48 and recall = 69 % on the defective class — the most useful operating point for software QA.</a:t>
            </a:r>
            <a:endParaRPr lang="en-US" sz="1100"/>
          </a:p>
        </p:txBody>
      </p:sp>
      <p:sp>
        <p:nvSpPr>
          <p:cNvPr id="742936295" name="Shape 10"/>
          <p:cNvSpPr/>
          <p:nvPr/>
        </p:nvSpPr>
        <p:spPr bwMode="auto">
          <a:xfrm>
            <a:off x="502920" y="2834640"/>
            <a:ext cx="457200" cy="4572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13201373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94360" y="2926080"/>
            <a:ext cx="274320" cy="274320"/>
          </a:xfrm>
          <a:prstGeom prst="rect">
            <a:avLst/>
          </a:prstGeom>
        </p:spPr>
      </p:pic>
      <p:sp>
        <p:nvSpPr>
          <p:cNvPr id="1027931082" name="Text 11"/>
          <p:cNvSpPr/>
          <p:nvPr/>
        </p:nvSpPr>
        <p:spPr bwMode="auto">
          <a:xfrm>
            <a:off x="1097280" y="28163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Why simple models struggled</a:t>
            </a:r>
            <a:endParaRPr lang="en-US" sz="1400"/>
          </a:p>
        </p:txBody>
      </p:sp>
      <p:sp>
        <p:nvSpPr>
          <p:cNvPr id="770630802" name="Text 12"/>
          <p:cNvSpPr/>
          <p:nvPr/>
        </p:nvSpPr>
        <p:spPr bwMode="auto">
          <a:xfrm>
            <a:off x="1097280" y="31089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Naive Bayes is broken by heavy collinearity among Halstead metrics; Logistic Regression cannot model the non-linear interaction between size and complexity; an MLP is too data-hungry for ~7 k training rows.</a:t>
            </a:r>
            <a:endParaRPr lang="en-US" sz="1100"/>
          </a:p>
        </p:txBody>
      </p:sp>
      <p:sp>
        <p:nvSpPr>
          <p:cNvPr id="1518053256" name="Shape 13"/>
          <p:cNvSpPr/>
          <p:nvPr/>
        </p:nvSpPr>
        <p:spPr bwMode="auto">
          <a:xfrm>
            <a:off x="502920" y="3749040"/>
            <a:ext cx="457200" cy="4572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3531468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94360" y="3840480"/>
            <a:ext cx="274320" cy="274320"/>
          </a:xfrm>
          <a:prstGeom prst="rect">
            <a:avLst/>
          </a:prstGeom>
        </p:spPr>
      </p:pic>
      <p:sp>
        <p:nvSpPr>
          <p:cNvPr id="228482280" name="Text 14"/>
          <p:cNvSpPr/>
          <p:nvPr/>
        </p:nvSpPr>
        <p:spPr bwMode="auto">
          <a:xfrm>
            <a:off x="1097280" y="37307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What we learned about JM1</a:t>
            </a:r>
            <a:endParaRPr lang="en-US" sz="1400"/>
          </a:p>
        </p:txBody>
      </p:sp>
      <p:sp>
        <p:nvSpPr>
          <p:cNvPr id="193323017" name="Text 15"/>
          <p:cNvSpPr/>
          <p:nvPr/>
        </p:nvSpPr>
        <p:spPr bwMode="auto">
          <a:xfrm>
            <a:off x="1097280" y="40233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lines_of_code dominates importance (≈ 12.6 %), followed by Halstead intelligence, volume and time. Defects concentrate in long, dense modules — exactly what McCabe and Halstead hypothesised in the 1970s.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bg>
      <p:bgPr shadeToTitle="0">
        <a:solidFill>
          <a:srgbClr val="FBF7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797019" name="Shape 0"/>
          <p:cNvSpPr/>
          <p:nvPr/>
        </p:nvSpPr>
        <p:spPr bwMode="auto">
          <a:xfrm>
            <a:off x="5486400" y="-1645920"/>
            <a:ext cx="5943600" cy="59436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589422" name="Shape 1"/>
          <p:cNvSpPr/>
          <p:nvPr/>
        </p:nvSpPr>
        <p:spPr bwMode="auto">
          <a:xfrm>
            <a:off x="6675120" y="2011680"/>
            <a:ext cx="4114800" cy="4114800"/>
          </a:xfrm>
          <a:prstGeom prst="ellipse">
            <a:avLst/>
          </a:prstGeom>
          <a:solidFill>
            <a:srgbClr val="F4D7D2"/>
          </a:solidFill>
          <a:ln w="12700">
            <a:solidFill>
              <a:srgbClr val="F4D7D2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685047" name="Shape 2"/>
          <p:cNvSpPr/>
          <p:nvPr/>
        </p:nvSpPr>
        <p:spPr bwMode="auto">
          <a:xfrm>
            <a:off x="7863840" y="-548640"/>
            <a:ext cx="1280160" cy="1280160"/>
          </a:xfrm>
          <a:prstGeom prst="ellipse">
            <a:avLst/>
          </a:prstGeom>
          <a:solidFill>
            <a:srgbClr val="FBE6E3"/>
          </a:solidFill>
          <a:ln w="12700">
            <a:solidFill>
              <a:srgbClr val="FBE6E3"/>
            </a:solidFill>
            <a:prstDash val="soli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873270" name="Text 3"/>
          <p:cNvSpPr/>
          <p:nvPr/>
        </p:nvSpPr>
        <p:spPr bwMode="auto">
          <a:xfrm>
            <a:off x="548640" y="1371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 spc="200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THANK</a:t>
            </a:r>
            <a:endParaRPr lang="en-US" sz="7200"/>
          </a:p>
        </p:txBody>
      </p:sp>
      <p:sp>
        <p:nvSpPr>
          <p:cNvPr id="1541651814" name="Text 4"/>
          <p:cNvSpPr/>
          <p:nvPr/>
        </p:nvSpPr>
        <p:spPr bwMode="auto">
          <a:xfrm>
            <a:off x="548640" y="2331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200" b="1" spc="200">
                <a:solidFill>
                  <a:srgbClr val="1A2B5C"/>
                </a:solidFill>
                <a:latin typeface="Calibri"/>
                <a:ea typeface="Calibri"/>
                <a:cs typeface="Calibri"/>
              </a:rPr>
              <a:t>YOU</a:t>
            </a:r>
            <a:endParaRPr lang="en-US" sz="7200"/>
          </a:p>
        </p:txBody>
      </p:sp>
      <p:sp>
        <p:nvSpPr>
          <p:cNvPr id="987568601" name="Text 5"/>
          <p:cNvSpPr/>
          <p:nvPr/>
        </p:nvSpPr>
        <p:spPr bwMode="auto"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4A4A4A"/>
                </a:solidFill>
                <a:latin typeface="Calibri"/>
                <a:ea typeface="Calibri"/>
                <a:cs typeface="Calibri"/>
              </a:rPr>
              <a:t>Questions are welcome.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Defect Prediction</dc:title>
  <dc:subject>PptxGenJS Presentation</dc:subject>
  <dc:creator>DS Project Team</dc:creator>
  <cp:lastModifiedBy/>
  <cp:revision>6</cp:revision>
  <dcterms:created xsi:type="dcterms:W3CDTF">2026-05-20T02:51:25Z</dcterms:created>
  <dcterms:modified xsi:type="dcterms:W3CDTF">2026-05-20T21:46:06Z</dcterms:modified>
</cp:coreProperties>
</file>